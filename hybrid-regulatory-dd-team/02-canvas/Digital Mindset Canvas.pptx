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712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66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>
                <a:solidFill>
                  <a:srgbClr val="024157"/>
                </a:solidFill>
                <a:latin typeface="Figtree"/>
              </a:rPr>
              <a:t>Digital Mindset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329184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238A91"/>
                </a:solidFill>
                <a:latin typeface="Figtree"/>
              </a:rPr>
              <a:t>Hybrid Regulatory Due-Diligence AI Team</a:t>
            </a:r>
          </a:p>
        </p:txBody>
      </p:sp>
      <p:sp>
        <p:nvSpPr>
          <p:cNvPr id="4" name="Box 8 New Mindsets"/>
          <p:cNvSpPr/>
          <p:nvPr/>
        </p:nvSpPr>
        <p:spPr>
          <a:xfrm>
            <a:off x="457200" y="1024128"/>
            <a:ext cx="3611880" cy="1508760"/>
          </a:xfrm>
          <a:prstGeom prst="roundRect">
            <a:avLst>
              <a:gd name="adj" fmla="val 3367"/>
            </a:avLst>
          </a:prstGeom>
          <a:solidFill>
            <a:srgbClr val="238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411480" bIns="54864" rtlCol="0" anchor="t">
            <a:no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Figtree"/>
              </a:rPr>
              <a:t>New Mindsets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FFFFFF"/>
                </a:solidFill>
                <a:latin typeface="Figtree"/>
              </a:rPr>
              <a:t>Experts define agents and validate their outputs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b="0" dirty="0">
                <a:solidFill>
                  <a:srgbClr val="FFFFFF"/>
                </a:solidFill>
                <a:latin typeface="Figtree"/>
              </a:rPr>
              <a:t>Regulatory Lead </a:t>
            </a:r>
            <a:r>
              <a:rPr sz="1200" b="0" dirty="0">
                <a:solidFill>
                  <a:srgbClr val="FFFFFF"/>
                </a:solidFill>
                <a:latin typeface="Figtree"/>
              </a:rPr>
              <a:t>trust</a:t>
            </a:r>
            <a:r>
              <a:rPr lang="en-US" sz="1200" b="0" dirty="0">
                <a:solidFill>
                  <a:srgbClr val="FFFFFF"/>
                </a:solidFill>
                <a:latin typeface="Figtree"/>
              </a:rPr>
              <a:t>s</a:t>
            </a:r>
            <a:r>
              <a:rPr sz="1200" b="0" dirty="0">
                <a:solidFill>
                  <a:srgbClr val="FFFFFF"/>
                </a:solidFill>
                <a:latin typeface="Figtree"/>
              </a:rPr>
              <a:t> agents and feed back corrections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FFFFFF"/>
                </a:solidFill>
                <a:latin typeface="Figtree"/>
              </a:rPr>
              <a:t>Humans own every final decision</a:t>
            </a:r>
            <a:r>
              <a:rPr lang="en-US" sz="1200" b="0" dirty="0">
                <a:solidFill>
                  <a:srgbClr val="FFFFFF"/>
                </a:solidFill>
                <a:latin typeface="Figtree"/>
              </a:rPr>
              <a:t> in a hybrid team</a:t>
            </a:r>
            <a:endParaRPr sz="1200" b="0" dirty="0">
              <a:solidFill>
                <a:srgbClr val="FFFFFF"/>
              </a:solidFill>
              <a:latin typeface="Figtree"/>
            </a:endParaRPr>
          </a:p>
        </p:txBody>
      </p:sp>
      <p:sp>
        <p:nvSpPr>
          <p:cNvPr id="5" name="Box 3 Why"/>
          <p:cNvSpPr/>
          <p:nvPr/>
        </p:nvSpPr>
        <p:spPr>
          <a:xfrm>
            <a:off x="4178808" y="1024128"/>
            <a:ext cx="3611880" cy="1508760"/>
          </a:xfrm>
          <a:prstGeom prst="roundRect">
            <a:avLst>
              <a:gd name="adj" fmla="val 3367"/>
            </a:avLst>
          </a:prstGeom>
          <a:solidFill>
            <a:srgbClr val="A9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411480" bIns="54864" rtlCol="0" anchor="t">
            <a:noAutofit/>
          </a:bodyPr>
          <a:lstStyle/>
          <a:p>
            <a:pPr algn="l"/>
            <a:r>
              <a:rPr sz="1400" b="1" dirty="0">
                <a:solidFill>
                  <a:srgbClr val="024157"/>
                </a:solidFill>
                <a:latin typeface="Figtree"/>
              </a:rPr>
              <a:t>Why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Demand is rising across asset stages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Novel modalities, CMC requirements, and regulations</a:t>
            </a:r>
            <a:r>
              <a:rPr lang="en-US" sz="1200" dirty="0">
                <a:solidFill>
                  <a:srgbClr val="1F2A30"/>
                </a:solidFill>
                <a:latin typeface="Figtree"/>
              </a:rPr>
              <a:t> 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increase complexity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dirty="0">
                <a:solidFill>
                  <a:srgbClr val="1F2A30"/>
                </a:solidFill>
                <a:latin typeface="Figtree"/>
              </a:rPr>
              <a:t>Strained regulatory resources 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face unpredictable</a:t>
            </a:r>
            <a:r>
              <a:rPr lang="en-US" sz="1200" b="0" dirty="0">
                <a:solidFill>
                  <a:srgbClr val="1F2A30"/>
                </a:solidFill>
                <a:latin typeface="Figtree"/>
              </a:rPr>
              <a:t> asks and tight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 deadlines</a:t>
            </a:r>
          </a:p>
        </p:txBody>
      </p:sp>
      <p:sp>
        <p:nvSpPr>
          <p:cNvPr id="6" name="Box 2 Future Results"/>
          <p:cNvSpPr/>
          <p:nvPr/>
        </p:nvSpPr>
        <p:spPr>
          <a:xfrm>
            <a:off x="7900416" y="1024128"/>
            <a:ext cx="3611880" cy="1508760"/>
          </a:xfrm>
          <a:prstGeom prst="roundRect">
            <a:avLst>
              <a:gd name="adj" fmla="val 3367"/>
            </a:avLst>
          </a:prstGeom>
          <a:solidFill>
            <a:srgbClr val="A9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411480" bIns="54864" rtlCol="0" anchor="t">
            <a:noAutofit/>
          </a:bodyPr>
          <a:lstStyle/>
          <a:p>
            <a:pPr algn="l"/>
            <a:r>
              <a:rPr sz="1400" b="1" dirty="0">
                <a:solidFill>
                  <a:srgbClr val="024157"/>
                </a:solidFill>
                <a:latin typeface="Figtree"/>
              </a:rPr>
              <a:t>Future Results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Recommendations reflect </a:t>
            </a:r>
            <a:r>
              <a:rPr lang="en-US" sz="1200" b="0" dirty="0">
                <a:solidFill>
                  <a:srgbClr val="1F2A30"/>
                </a:solidFill>
                <a:latin typeface="Figtree"/>
              </a:rPr>
              <a:t>comprehensive 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regulatory</a:t>
            </a:r>
            <a:r>
              <a:rPr lang="en-US" sz="1200" b="0" dirty="0">
                <a:solidFill>
                  <a:srgbClr val="1F2A30"/>
                </a:solidFill>
                <a:latin typeface="Figtree"/>
              </a:rPr>
              <a:t> risk and opportunity</a:t>
            </a:r>
            <a:endParaRPr sz="1200" b="0" dirty="0">
              <a:solidFill>
                <a:srgbClr val="1F2A30"/>
              </a:solidFill>
              <a:latin typeface="Figtree"/>
            </a:endParaRP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b="0" dirty="0">
                <a:solidFill>
                  <a:srgbClr val="1F2A30"/>
                </a:solidFill>
                <a:latin typeface="Figtree"/>
              </a:rPr>
              <a:t>Regulatory </a:t>
            </a:r>
            <a:r>
              <a:rPr lang="en-US" sz="1200" dirty="0">
                <a:solidFill>
                  <a:srgbClr val="1F2A30"/>
                </a:solidFill>
                <a:latin typeface="Figtree"/>
              </a:rPr>
              <a:t>t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eams </a:t>
            </a:r>
            <a:r>
              <a:rPr lang="en-US" sz="1200" dirty="0">
                <a:solidFill>
                  <a:srgbClr val="1F2A30"/>
                </a:solidFill>
                <a:latin typeface="Figtree"/>
              </a:rPr>
              <a:t>assess deals more confidently, efficiently, and robustly</a:t>
            </a:r>
            <a:endParaRPr sz="1200" b="0" dirty="0">
              <a:solidFill>
                <a:srgbClr val="1F2A30"/>
              </a:solidFill>
              <a:latin typeface="Figtree"/>
            </a:endParaRPr>
          </a:p>
        </p:txBody>
      </p:sp>
      <p:sp>
        <p:nvSpPr>
          <p:cNvPr id="7" name="Box 6 Current Mindsets panel"/>
          <p:cNvSpPr/>
          <p:nvPr/>
        </p:nvSpPr>
        <p:spPr>
          <a:xfrm>
            <a:off x="457200" y="2642616"/>
            <a:ext cx="3611880" cy="1856231"/>
          </a:xfrm>
          <a:prstGeom prst="roundRect">
            <a:avLst>
              <a:gd name="adj" fmla="val 2736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>
            <a:noAutofit/>
          </a:bodyPr>
          <a:lstStyle/>
          <a:p>
            <a:pPr algn="l"/>
            <a:r>
              <a:rPr sz="1400" b="1">
                <a:solidFill>
                  <a:srgbClr val="024157"/>
                </a:solidFill>
                <a:latin typeface="Figtree"/>
              </a:rPr>
              <a:t>Current Mindsets</a:t>
            </a:r>
          </a:p>
        </p:txBody>
      </p:sp>
      <p:sp>
        <p:nvSpPr>
          <p:cNvPr id="8" name="Box 6 Current Mindsets Best"/>
          <p:cNvSpPr/>
          <p:nvPr/>
        </p:nvSpPr>
        <p:spPr>
          <a:xfrm>
            <a:off x="512064" y="2944368"/>
            <a:ext cx="1728216" cy="1499615"/>
          </a:xfrm>
          <a:prstGeom prst="roundRect">
            <a:avLst>
              <a:gd name="adj" fmla="val 33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bIns="36576" rtlCol="0" anchor="t">
            <a:noAutofit/>
          </a:bodyPr>
          <a:lstStyle/>
          <a:p>
            <a:pPr algn="l"/>
            <a:r>
              <a:rPr sz="1200" b="1" dirty="0">
                <a:solidFill>
                  <a:srgbClr val="238A91"/>
                </a:solidFill>
                <a:latin typeface="Figtree"/>
              </a:rPr>
              <a:t>Best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dirty="0">
                <a:solidFill>
                  <a:srgbClr val="1F2A30"/>
                </a:solidFill>
                <a:latin typeface="Figtree"/>
              </a:rPr>
              <a:t>DD </a:t>
            </a:r>
            <a:r>
              <a:rPr lang="en-US" sz="1200" b="0" dirty="0">
                <a:solidFill>
                  <a:srgbClr val="1F2A30"/>
                </a:solidFill>
                <a:latin typeface="Figtree"/>
              </a:rPr>
              <a:t>team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 trust</a:t>
            </a:r>
            <a:r>
              <a:rPr lang="en-US" sz="1200" b="0" dirty="0">
                <a:solidFill>
                  <a:srgbClr val="1F2A30"/>
                </a:solidFill>
                <a:latin typeface="Figtree"/>
              </a:rPr>
              <a:t>s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 regulatory judgment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Expert</a:t>
            </a:r>
            <a:r>
              <a:rPr lang="en-US" sz="1200" b="0" dirty="0">
                <a:solidFill>
                  <a:srgbClr val="1F2A30"/>
                </a:solidFill>
                <a:latin typeface="Figtree"/>
              </a:rPr>
              <a:t>-based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 strengthen assessments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b="0" dirty="0">
                <a:solidFill>
                  <a:srgbClr val="1F2A30"/>
                </a:solidFill>
                <a:latin typeface="Figtree"/>
              </a:rPr>
              <a:t>DD 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Team</a:t>
            </a:r>
            <a:r>
              <a:rPr lang="en-US" sz="1200" b="0" dirty="0">
                <a:solidFill>
                  <a:srgbClr val="1F2A30"/>
                </a:solidFill>
                <a:latin typeface="Figtree"/>
              </a:rPr>
              <a:t> 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share decision ownership</a:t>
            </a:r>
          </a:p>
        </p:txBody>
      </p:sp>
      <p:sp>
        <p:nvSpPr>
          <p:cNvPr id="9" name="Box 6 Current Mindsets Worst"/>
          <p:cNvSpPr/>
          <p:nvPr/>
        </p:nvSpPr>
        <p:spPr>
          <a:xfrm>
            <a:off x="2286000" y="2944368"/>
            <a:ext cx="1728216" cy="1499615"/>
          </a:xfrm>
          <a:prstGeom prst="roundRect">
            <a:avLst>
              <a:gd name="adj" fmla="val 33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bIns="36576" rtlCol="0" anchor="t">
            <a:noAutofit/>
          </a:bodyPr>
          <a:lstStyle/>
          <a:p>
            <a:pPr algn="l"/>
            <a:r>
              <a:rPr sz="1200" b="1" dirty="0">
                <a:solidFill>
                  <a:srgbClr val="238A91"/>
                </a:solidFill>
                <a:latin typeface="Figtree"/>
              </a:rPr>
              <a:t>Worst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b="0" dirty="0">
                <a:solidFill>
                  <a:srgbClr val="1F2A30"/>
                </a:solidFill>
                <a:latin typeface="Figtree"/>
              </a:rPr>
              <a:t>Fear and business pressure beats good judgmen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t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Silos limit </a:t>
            </a:r>
            <a:r>
              <a:rPr lang="en-US" sz="1200" b="0" dirty="0">
                <a:solidFill>
                  <a:srgbClr val="1F2A30"/>
                </a:solidFill>
                <a:latin typeface="Figtree"/>
              </a:rPr>
              <a:t>DD 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team collaboration</a:t>
            </a:r>
          </a:p>
        </p:txBody>
      </p:sp>
      <p:sp>
        <p:nvSpPr>
          <p:cNvPr id="10" name="Badge 6"/>
          <p:cNvSpPr/>
          <p:nvPr/>
        </p:nvSpPr>
        <p:spPr>
          <a:xfrm>
            <a:off x="3739896" y="2679192"/>
            <a:ext cx="274320" cy="274320"/>
          </a:xfrm>
          <a:prstGeom prst="ellipse">
            <a:avLst/>
          </a:prstGeom>
          <a:solidFill>
            <a:srgbClr val="02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Figtree"/>
              </a:rPr>
              <a:t>6</a:t>
            </a:r>
          </a:p>
        </p:txBody>
      </p:sp>
      <p:sp>
        <p:nvSpPr>
          <p:cNvPr id="11" name="Box 4 Current Results panel"/>
          <p:cNvSpPr/>
          <p:nvPr/>
        </p:nvSpPr>
        <p:spPr>
          <a:xfrm>
            <a:off x="4178808" y="2642616"/>
            <a:ext cx="3611880" cy="1856231"/>
          </a:xfrm>
          <a:prstGeom prst="roundRect">
            <a:avLst>
              <a:gd name="adj" fmla="val 2736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>
            <a:noAutofit/>
          </a:bodyPr>
          <a:lstStyle/>
          <a:p>
            <a:pPr algn="l"/>
            <a:r>
              <a:rPr sz="1400" b="1">
                <a:solidFill>
                  <a:srgbClr val="024157"/>
                </a:solidFill>
                <a:latin typeface="Figtree"/>
              </a:rPr>
              <a:t>Current Results</a:t>
            </a:r>
          </a:p>
        </p:txBody>
      </p:sp>
      <p:sp>
        <p:nvSpPr>
          <p:cNvPr id="12" name="Box 4 Current Results Best"/>
          <p:cNvSpPr/>
          <p:nvPr/>
        </p:nvSpPr>
        <p:spPr>
          <a:xfrm>
            <a:off x="4233672" y="2944368"/>
            <a:ext cx="1831848" cy="1499615"/>
          </a:xfrm>
          <a:prstGeom prst="roundRect">
            <a:avLst>
              <a:gd name="adj" fmla="val 33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bIns="36576" rtlCol="0" anchor="t">
            <a:noAutofit/>
          </a:bodyPr>
          <a:lstStyle/>
          <a:p>
            <a:pPr algn="l"/>
            <a:r>
              <a:rPr sz="1200" b="1" dirty="0">
                <a:solidFill>
                  <a:srgbClr val="238A91"/>
                </a:solidFill>
                <a:latin typeface="Figtree"/>
              </a:rPr>
              <a:t>Best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Company acquires </a:t>
            </a:r>
            <a:r>
              <a:rPr lang="en-US" sz="1200" dirty="0">
                <a:solidFill>
                  <a:srgbClr val="1F2A30"/>
                </a:solidFill>
                <a:latin typeface="Figtree"/>
              </a:rPr>
              <a:t>valuable assets</a:t>
            </a:r>
            <a:endParaRPr sz="1200" b="0" dirty="0">
              <a:solidFill>
                <a:srgbClr val="1F2A30"/>
              </a:solidFill>
              <a:latin typeface="Figtree"/>
            </a:endParaRP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Risks have workable mitigations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b="0" dirty="0">
                <a:solidFill>
                  <a:srgbClr val="1F2A30"/>
                </a:solidFill>
                <a:latin typeface="Figtree"/>
              </a:rPr>
              <a:t>Reg 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Lead</a:t>
            </a:r>
            <a:r>
              <a:rPr lang="en-US" sz="1200" b="0" dirty="0">
                <a:solidFill>
                  <a:srgbClr val="1F2A30"/>
                </a:solidFill>
                <a:latin typeface="Figtree"/>
              </a:rPr>
              <a:t> 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make</a:t>
            </a:r>
            <a:r>
              <a:rPr lang="en-US" sz="1200" b="0" dirty="0">
                <a:solidFill>
                  <a:srgbClr val="1F2A30"/>
                </a:solidFill>
                <a:latin typeface="Figtree"/>
              </a:rPr>
              <a:t>s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 </a:t>
            </a:r>
            <a:r>
              <a:rPr lang="en-US" sz="1200" dirty="0">
                <a:solidFill>
                  <a:srgbClr val="1F2A30"/>
                </a:solidFill>
                <a:latin typeface="Figtree"/>
              </a:rPr>
              <a:t>sound 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recommendations</a:t>
            </a:r>
          </a:p>
        </p:txBody>
      </p:sp>
      <p:sp>
        <p:nvSpPr>
          <p:cNvPr id="13" name="Box 4 Current Results Worst"/>
          <p:cNvSpPr/>
          <p:nvPr/>
        </p:nvSpPr>
        <p:spPr>
          <a:xfrm>
            <a:off x="6007608" y="2944368"/>
            <a:ext cx="1728216" cy="1499615"/>
          </a:xfrm>
          <a:prstGeom prst="roundRect">
            <a:avLst>
              <a:gd name="adj" fmla="val 33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bIns="36576" rtlCol="0" anchor="t">
            <a:noAutofit/>
          </a:bodyPr>
          <a:lstStyle/>
          <a:p>
            <a:pPr algn="l"/>
            <a:r>
              <a:rPr sz="1200" b="1" dirty="0">
                <a:solidFill>
                  <a:srgbClr val="238A91"/>
                </a:solidFill>
                <a:latin typeface="Figtree"/>
              </a:rPr>
              <a:t>Worst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Missed risks yield bad deals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Poor reviews lose opportunities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dirty="0">
                <a:solidFill>
                  <a:srgbClr val="1F2A30"/>
                </a:solidFill>
                <a:latin typeface="Figtree"/>
              </a:rPr>
              <a:t>Regulatory voice is not heard</a:t>
            </a:r>
            <a:endParaRPr sz="1200" b="0" dirty="0">
              <a:solidFill>
                <a:srgbClr val="1F2A30"/>
              </a:solidFill>
              <a:latin typeface="Figtree"/>
            </a:endParaRPr>
          </a:p>
        </p:txBody>
      </p:sp>
      <p:sp>
        <p:nvSpPr>
          <p:cNvPr id="14" name="Badge 4"/>
          <p:cNvSpPr/>
          <p:nvPr/>
        </p:nvSpPr>
        <p:spPr>
          <a:xfrm>
            <a:off x="7461504" y="2679192"/>
            <a:ext cx="274320" cy="274320"/>
          </a:xfrm>
          <a:prstGeom prst="ellipse">
            <a:avLst/>
          </a:prstGeom>
          <a:solidFill>
            <a:srgbClr val="02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Figtree"/>
              </a:rPr>
              <a:t>4</a:t>
            </a:r>
          </a:p>
        </p:txBody>
      </p:sp>
      <p:sp>
        <p:nvSpPr>
          <p:cNvPr id="15" name="Box 9 How"/>
          <p:cNvSpPr/>
          <p:nvPr/>
        </p:nvSpPr>
        <p:spPr>
          <a:xfrm>
            <a:off x="7900416" y="2642616"/>
            <a:ext cx="3611880" cy="1856231"/>
          </a:xfrm>
          <a:prstGeom prst="roundRect">
            <a:avLst>
              <a:gd name="adj" fmla="val 2736"/>
            </a:avLst>
          </a:prstGeom>
          <a:solidFill>
            <a:srgbClr val="238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411480" bIns="54864" rtlCol="0" anchor="t">
            <a:no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Figtree"/>
              </a:rPr>
              <a:t>How</a:t>
            </a: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FFFFFF"/>
                </a:solidFill>
                <a:latin typeface="Figtree"/>
              </a:rPr>
              <a:t>Individual: </a:t>
            </a:r>
            <a:r>
              <a:rPr lang="en-US" sz="1200" b="1" dirty="0">
                <a:solidFill>
                  <a:srgbClr val="FFFFFF"/>
                </a:solidFill>
                <a:latin typeface="Figtree"/>
              </a:rPr>
              <a:t>S</a:t>
            </a:r>
            <a:r>
              <a:rPr sz="1200" b="0" dirty="0">
                <a:solidFill>
                  <a:srgbClr val="FFFFFF"/>
                </a:solidFill>
                <a:latin typeface="Figtree"/>
              </a:rPr>
              <a:t>hape agents and decide with human and virtual expert support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rgbClr val="FFFFFF"/>
                </a:solidFill>
                <a:latin typeface="Figtree"/>
              </a:rPr>
              <a:t>Team</a:t>
            </a:r>
            <a:r>
              <a:rPr sz="1200" b="1" dirty="0">
                <a:solidFill>
                  <a:srgbClr val="FFFFFF"/>
                </a:solidFill>
                <a:latin typeface="Figtree"/>
              </a:rPr>
              <a:t>: </a:t>
            </a:r>
            <a:r>
              <a:rPr lang="en-US" sz="1200" b="1" dirty="0">
                <a:solidFill>
                  <a:srgbClr val="FFFFFF"/>
                </a:solidFill>
                <a:latin typeface="Figtree"/>
              </a:rPr>
              <a:t>L</a:t>
            </a:r>
            <a:r>
              <a:rPr sz="1200" b="0" dirty="0">
                <a:solidFill>
                  <a:srgbClr val="FFFFFF"/>
                </a:solidFill>
                <a:latin typeface="Figtree"/>
              </a:rPr>
              <a:t>earn hybrid practices, define agents, and validate outputs</a:t>
            </a: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FFFFFF"/>
                </a:solidFill>
                <a:latin typeface="Figtree"/>
              </a:rPr>
              <a:t>Organization: </a:t>
            </a:r>
            <a:r>
              <a:rPr lang="en-US" sz="1200" b="0" dirty="0">
                <a:solidFill>
                  <a:srgbClr val="FFFFFF"/>
                </a:solidFill>
                <a:latin typeface="Figtree"/>
              </a:rPr>
              <a:t>E</a:t>
            </a:r>
            <a:r>
              <a:rPr sz="1200" b="0" dirty="0">
                <a:solidFill>
                  <a:srgbClr val="FFFFFF"/>
                </a:solidFill>
                <a:latin typeface="Figtree"/>
              </a:rPr>
              <a:t>stablish governance, extend adoption beyond grassroots teams, and preserve human accountability</a:t>
            </a:r>
          </a:p>
        </p:txBody>
      </p:sp>
      <p:sp>
        <p:nvSpPr>
          <p:cNvPr id="16" name="Box 1 Initiative"/>
          <p:cNvSpPr/>
          <p:nvPr/>
        </p:nvSpPr>
        <p:spPr>
          <a:xfrm>
            <a:off x="457200" y="4608576"/>
            <a:ext cx="3611880" cy="1856231"/>
          </a:xfrm>
          <a:prstGeom prst="roundRect">
            <a:avLst>
              <a:gd name="adj" fmla="val 2736"/>
            </a:avLst>
          </a:prstGeom>
          <a:solidFill>
            <a:srgbClr val="A9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411480" bIns="54864" rtlCol="0" anchor="t">
            <a:noAutofit/>
          </a:bodyPr>
          <a:lstStyle/>
          <a:p>
            <a:pPr algn="l"/>
            <a:r>
              <a:rPr sz="1400" b="1" dirty="0">
                <a:solidFill>
                  <a:srgbClr val="024157"/>
                </a:solidFill>
                <a:latin typeface="Figtree"/>
              </a:rPr>
              <a:t>Initiative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1F2A30"/>
                </a:solidFill>
                <a:latin typeface="Figtree"/>
              </a:rPr>
              <a:t>Hybrid Regulatory Due-Diligence AI Team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Human and virtual specialists support regulatory acquisition assessments</a:t>
            </a:r>
            <a:endParaRPr lang="en-US" sz="1200" b="0" dirty="0">
              <a:solidFill>
                <a:srgbClr val="1F2A30"/>
              </a:solidFill>
              <a:latin typeface="Figtree"/>
            </a:endParaRP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b="0" dirty="0">
                <a:solidFill>
                  <a:srgbClr val="1F2A30"/>
                </a:solidFill>
                <a:latin typeface="Figtree"/>
              </a:rPr>
              <a:t>Goal is to gather and assess evidence </a:t>
            </a:r>
            <a:r>
              <a:rPr lang="en-US" sz="1200" dirty="0">
                <a:solidFill>
                  <a:srgbClr val="1F2A30"/>
                </a:solidFill>
                <a:latin typeface="Figtree"/>
              </a:rPr>
              <a:t>more consistently and identify risk and mitigation</a:t>
            </a:r>
            <a:endParaRPr sz="1200" b="0" dirty="0">
              <a:solidFill>
                <a:srgbClr val="1F2A30"/>
              </a:solidFill>
              <a:latin typeface="Figtree"/>
            </a:endParaRP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The </a:t>
            </a:r>
            <a:r>
              <a:rPr lang="en-US" sz="1200" b="0" dirty="0">
                <a:solidFill>
                  <a:srgbClr val="1F2A30"/>
                </a:solidFill>
                <a:latin typeface="Figtree"/>
              </a:rPr>
              <a:t>regulatory 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lead recommends whether the company should acquire each asset</a:t>
            </a:r>
          </a:p>
        </p:txBody>
      </p:sp>
      <p:sp>
        <p:nvSpPr>
          <p:cNvPr id="17" name="Box 5 Current Behaviors panel"/>
          <p:cNvSpPr/>
          <p:nvPr/>
        </p:nvSpPr>
        <p:spPr>
          <a:xfrm>
            <a:off x="4178808" y="4608576"/>
            <a:ext cx="3611880" cy="1856231"/>
          </a:xfrm>
          <a:prstGeom prst="roundRect">
            <a:avLst>
              <a:gd name="adj" fmla="val 2736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>
            <a:noAutofit/>
          </a:bodyPr>
          <a:lstStyle/>
          <a:p>
            <a:pPr algn="l"/>
            <a:r>
              <a:rPr sz="1400" b="1">
                <a:solidFill>
                  <a:srgbClr val="024157"/>
                </a:solidFill>
                <a:latin typeface="Figtree"/>
              </a:rPr>
              <a:t>Current Behaviors</a:t>
            </a:r>
          </a:p>
        </p:txBody>
      </p:sp>
      <p:sp>
        <p:nvSpPr>
          <p:cNvPr id="18" name="Box 5 Current Behaviors Best"/>
          <p:cNvSpPr/>
          <p:nvPr/>
        </p:nvSpPr>
        <p:spPr>
          <a:xfrm>
            <a:off x="4233672" y="4910328"/>
            <a:ext cx="1831848" cy="1499615"/>
          </a:xfrm>
          <a:prstGeom prst="roundRect">
            <a:avLst>
              <a:gd name="adj" fmla="val 33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bIns="36576" rtlCol="0" anchor="t">
            <a:noAutofit/>
          </a:bodyPr>
          <a:lstStyle/>
          <a:p>
            <a:pPr algn="l"/>
            <a:r>
              <a:rPr sz="1200" b="1" dirty="0">
                <a:solidFill>
                  <a:srgbClr val="238A91"/>
                </a:solidFill>
                <a:latin typeface="Figtree"/>
              </a:rPr>
              <a:t>Best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b="0" dirty="0">
                <a:solidFill>
                  <a:srgbClr val="1F2A30"/>
                </a:solidFill>
                <a:latin typeface="Figtree"/>
              </a:rPr>
              <a:t>Reg 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Leads seek </a:t>
            </a:r>
            <a:r>
              <a:rPr lang="en-US" sz="1200" dirty="0">
                <a:solidFill>
                  <a:srgbClr val="1F2A30"/>
                </a:solidFill>
                <a:latin typeface="Figtree"/>
              </a:rPr>
              <a:t>support from specialists</a:t>
            </a:r>
            <a:endParaRPr sz="1200" b="0" dirty="0">
              <a:solidFill>
                <a:srgbClr val="1F2A30"/>
              </a:solidFill>
              <a:latin typeface="Figtree"/>
            </a:endParaRP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b="0" dirty="0">
                <a:solidFill>
                  <a:srgbClr val="1F2A30"/>
                </a:solidFill>
                <a:latin typeface="Figtree"/>
              </a:rPr>
              <a:t>Timely availability of information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dirty="0">
                <a:solidFill>
                  <a:srgbClr val="1F2A30"/>
                </a:solidFill>
                <a:latin typeface="Figtree"/>
              </a:rPr>
              <a:t>DD </a:t>
            </a:r>
            <a:r>
              <a:rPr sz="1200" b="0" dirty="0">
                <a:solidFill>
                  <a:srgbClr val="1F2A30"/>
                </a:solidFill>
                <a:latin typeface="Figtree"/>
              </a:rPr>
              <a:t>Team own risks and decisions</a:t>
            </a:r>
          </a:p>
        </p:txBody>
      </p:sp>
      <p:sp>
        <p:nvSpPr>
          <p:cNvPr id="19" name="Box 5 Current Behaviors Worst"/>
          <p:cNvSpPr/>
          <p:nvPr/>
        </p:nvSpPr>
        <p:spPr>
          <a:xfrm>
            <a:off x="6007608" y="4910328"/>
            <a:ext cx="1728216" cy="1499615"/>
          </a:xfrm>
          <a:prstGeom prst="roundRect">
            <a:avLst>
              <a:gd name="adj" fmla="val 33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45720" bIns="36576" rtlCol="0" anchor="t">
            <a:noAutofit/>
          </a:bodyPr>
          <a:lstStyle/>
          <a:p>
            <a:pPr algn="l"/>
            <a:r>
              <a:rPr sz="1200" b="1" dirty="0">
                <a:solidFill>
                  <a:srgbClr val="238A91"/>
                </a:solidFill>
                <a:latin typeface="Figtree"/>
              </a:rPr>
              <a:t>Worst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dirty="0">
                <a:solidFill>
                  <a:srgbClr val="1F2A30"/>
                </a:solidFill>
                <a:latin typeface="Figtree"/>
              </a:rPr>
              <a:t>Manual work misses nuanced risks</a:t>
            </a:r>
            <a:endParaRPr sz="1200" b="0" dirty="0">
              <a:solidFill>
                <a:srgbClr val="1F2A30"/>
              </a:solidFill>
              <a:latin typeface="Figtree"/>
            </a:endParaRP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Teams ignore regulatory input</a:t>
            </a:r>
          </a:p>
          <a:p>
            <a:pPr marL="118872" indent="-118872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1F2A30"/>
                </a:solidFill>
                <a:latin typeface="Figtree"/>
              </a:rPr>
              <a:t>Teams shift blame after losses</a:t>
            </a:r>
          </a:p>
        </p:txBody>
      </p:sp>
      <p:sp>
        <p:nvSpPr>
          <p:cNvPr id="20" name="Badge 5"/>
          <p:cNvSpPr/>
          <p:nvPr/>
        </p:nvSpPr>
        <p:spPr>
          <a:xfrm>
            <a:off x="7461504" y="4645152"/>
            <a:ext cx="274320" cy="274320"/>
          </a:xfrm>
          <a:prstGeom prst="ellipse">
            <a:avLst/>
          </a:prstGeom>
          <a:solidFill>
            <a:srgbClr val="02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Figtree"/>
              </a:rPr>
              <a:t>5</a:t>
            </a:r>
          </a:p>
        </p:txBody>
      </p:sp>
      <p:sp>
        <p:nvSpPr>
          <p:cNvPr id="21" name="Box 7 New Behaviors"/>
          <p:cNvSpPr/>
          <p:nvPr/>
        </p:nvSpPr>
        <p:spPr>
          <a:xfrm>
            <a:off x="7900416" y="4608576"/>
            <a:ext cx="3611880" cy="1856231"/>
          </a:xfrm>
          <a:prstGeom prst="roundRect">
            <a:avLst>
              <a:gd name="adj" fmla="val 2736"/>
            </a:avLst>
          </a:prstGeom>
          <a:solidFill>
            <a:srgbClr val="238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411480" bIns="54864" rtlCol="0" anchor="t">
            <a:no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Figtree"/>
              </a:rPr>
              <a:t>New Behaviors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200" b="0" dirty="0">
                <a:solidFill>
                  <a:srgbClr val="FFFFFF"/>
                </a:solidFill>
                <a:latin typeface="Figtree"/>
              </a:rPr>
              <a:t>Leads use human and virtual specialists for due diligence assessments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200" dirty="0">
                <a:solidFill>
                  <a:srgbClr val="FFFFFF"/>
                </a:solidFill>
                <a:latin typeface="Figtree"/>
              </a:rPr>
              <a:t>N</a:t>
            </a:r>
            <a:r>
              <a:rPr sz="1200" b="0" dirty="0">
                <a:solidFill>
                  <a:srgbClr val="FFFFFF"/>
                </a:solidFill>
                <a:latin typeface="Figtree"/>
              </a:rPr>
              <a:t>ecessary data accessible for timely review</a:t>
            </a:r>
            <a:r>
              <a:rPr lang="en-US" sz="1200" b="0" dirty="0">
                <a:solidFill>
                  <a:srgbClr val="FFFFFF"/>
                </a:solidFill>
                <a:latin typeface="Figtree"/>
              </a:rPr>
              <a:t> by a hybrid team</a:t>
            </a:r>
            <a:endParaRPr sz="1200" b="0" dirty="0">
              <a:solidFill>
                <a:srgbClr val="FFFFFF"/>
              </a:solidFill>
              <a:latin typeface="Figtree"/>
            </a:endParaRPr>
          </a:p>
        </p:txBody>
      </p:sp>
      <p:sp>
        <p:nvSpPr>
          <p:cNvPr id="22" name="Badge 8"/>
          <p:cNvSpPr/>
          <p:nvPr/>
        </p:nvSpPr>
        <p:spPr>
          <a:xfrm>
            <a:off x="3739896" y="106070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>
                <a:solidFill>
                  <a:srgbClr val="238A91"/>
                </a:solidFill>
                <a:latin typeface="Figtree"/>
              </a:rPr>
              <a:t>8</a:t>
            </a:r>
          </a:p>
        </p:txBody>
      </p:sp>
      <p:sp>
        <p:nvSpPr>
          <p:cNvPr id="23" name="Badge 3"/>
          <p:cNvSpPr/>
          <p:nvPr/>
        </p:nvSpPr>
        <p:spPr>
          <a:xfrm>
            <a:off x="7461504" y="1060704"/>
            <a:ext cx="274320" cy="274320"/>
          </a:xfrm>
          <a:prstGeom prst="ellipse">
            <a:avLst/>
          </a:prstGeom>
          <a:solidFill>
            <a:srgbClr val="02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Figtree"/>
              </a:rPr>
              <a:t>3</a:t>
            </a:r>
          </a:p>
        </p:txBody>
      </p:sp>
      <p:sp>
        <p:nvSpPr>
          <p:cNvPr id="24" name="Badge 2"/>
          <p:cNvSpPr/>
          <p:nvPr/>
        </p:nvSpPr>
        <p:spPr>
          <a:xfrm>
            <a:off x="11183112" y="1060704"/>
            <a:ext cx="274320" cy="274320"/>
          </a:xfrm>
          <a:prstGeom prst="ellipse">
            <a:avLst/>
          </a:prstGeom>
          <a:solidFill>
            <a:srgbClr val="02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Figtree"/>
              </a:rPr>
              <a:t>2</a:t>
            </a:r>
          </a:p>
        </p:txBody>
      </p:sp>
      <p:sp>
        <p:nvSpPr>
          <p:cNvPr id="25" name="Badge 9"/>
          <p:cNvSpPr/>
          <p:nvPr/>
        </p:nvSpPr>
        <p:spPr>
          <a:xfrm>
            <a:off x="11183112" y="267919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>
                <a:solidFill>
                  <a:srgbClr val="238A91"/>
                </a:solidFill>
                <a:latin typeface="Figtree"/>
              </a:rPr>
              <a:t>9</a:t>
            </a:r>
          </a:p>
        </p:txBody>
      </p:sp>
      <p:sp>
        <p:nvSpPr>
          <p:cNvPr id="26" name="Badge 1"/>
          <p:cNvSpPr/>
          <p:nvPr/>
        </p:nvSpPr>
        <p:spPr>
          <a:xfrm>
            <a:off x="3739896" y="4645152"/>
            <a:ext cx="274320" cy="274320"/>
          </a:xfrm>
          <a:prstGeom prst="ellipse">
            <a:avLst/>
          </a:prstGeom>
          <a:solidFill>
            <a:srgbClr val="02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Figtree"/>
              </a:rPr>
              <a:t>1</a:t>
            </a:r>
          </a:p>
        </p:txBody>
      </p:sp>
      <p:sp>
        <p:nvSpPr>
          <p:cNvPr id="27" name="Badge 7"/>
          <p:cNvSpPr/>
          <p:nvPr/>
        </p:nvSpPr>
        <p:spPr>
          <a:xfrm>
            <a:off x="11183112" y="464515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>
                <a:solidFill>
                  <a:srgbClr val="238A91"/>
                </a:solidFill>
                <a:latin typeface="Figtree"/>
              </a:rPr>
              <a:t>7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123944" y="786384"/>
            <a:ext cx="0" cy="3767328"/>
          </a:xfrm>
          <a:prstGeom prst="line">
            <a:avLst/>
          </a:prstGeom>
          <a:ln w="38100">
            <a:solidFill>
              <a:srgbClr val="02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23944" y="4553712"/>
            <a:ext cx="7662672" cy="0"/>
          </a:xfrm>
          <a:prstGeom prst="line">
            <a:avLst/>
          </a:prstGeom>
          <a:ln w="38100">
            <a:solidFill>
              <a:srgbClr val="02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494008" y="749808"/>
            <a:ext cx="338328" cy="292608"/>
          </a:xfrm>
          <a:prstGeom prst="line">
            <a:avLst/>
          </a:prstGeom>
          <a:ln w="38100">
            <a:solidFill>
              <a:srgbClr val="02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215384" y="76809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024157"/>
                </a:solidFill>
                <a:latin typeface="Figtree"/>
              </a:rPr>
              <a:t>SEE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30584" y="460857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024157"/>
                </a:solidFill>
                <a:latin typeface="Figtree"/>
              </a:rPr>
              <a:t>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0816" y="69494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024157"/>
                </a:solidFill>
                <a:latin typeface="Figtree"/>
              </a:rPr>
              <a:t>GROW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19672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Figtree"/>
              </a:rPr>
              <a:t>Canvas © Reichart Effectiveness Solutions 2024  |  Digital Accelerator, Oct 7, 2026</a:t>
            </a:r>
          </a:p>
        </p:txBody>
      </p:sp>
      <p:sp>
        <p:nvSpPr>
          <p:cNvPr id="35" name="Legend Context"/>
          <p:cNvSpPr/>
          <p:nvPr/>
        </p:nvSpPr>
        <p:spPr>
          <a:xfrm>
            <a:off x="7543800" y="6519672"/>
            <a:ext cx="868680" cy="256032"/>
          </a:xfrm>
          <a:prstGeom prst="roundRect">
            <a:avLst>
              <a:gd name="adj" fmla="val 19841"/>
            </a:avLst>
          </a:prstGeom>
          <a:solidFill>
            <a:srgbClr val="A9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algn="ctr"/>
            <a:r>
              <a:rPr sz="1200" b="0">
                <a:solidFill>
                  <a:srgbClr val="1F2A30"/>
                </a:solidFill>
                <a:latin typeface="Figtree"/>
              </a:rPr>
              <a:t>Context</a:t>
            </a:r>
          </a:p>
        </p:txBody>
      </p:sp>
      <p:sp>
        <p:nvSpPr>
          <p:cNvPr id="36" name="Legend Problem / Opportunity"/>
          <p:cNvSpPr/>
          <p:nvPr/>
        </p:nvSpPr>
        <p:spPr>
          <a:xfrm>
            <a:off x="8485632" y="6519672"/>
            <a:ext cx="1783080" cy="256032"/>
          </a:xfrm>
          <a:prstGeom prst="roundRect">
            <a:avLst>
              <a:gd name="adj" fmla="val 19841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algn="ctr"/>
            <a:r>
              <a:rPr sz="1200" b="0">
                <a:solidFill>
                  <a:srgbClr val="1F2A30"/>
                </a:solidFill>
                <a:latin typeface="Figtree"/>
              </a:rPr>
              <a:t>Problem / Opportunity</a:t>
            </a:r>
          </a:p>
        </p:txBody>
      </p:sp>
      <p:sp>
        <p:nvSpPr>
          <p:cNvPr id="37" name="Legend Solution"/>
          <p:cNvSpPr/>
          <p:nvPr/>
        </p:nvSpPr>
        <p:spPr>
          <a:xfrm>
            <a:off x="10341863" y="6519672"/>
            <a:ext cx="868680" cy="256032"/>
          </a:xfrm>
          <a:prstGeom prst="roundRect">
            <a:avLst>
              <a:gd name="adj" fmla="val 19841"/>
            </a:avLst>
          </a:prstGeom>
          <a:solidFill>
            <a:srgbClr val="238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Figtree"/>
              </a:rPr>
              <a:t>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Figtre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gtre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317</Words>
  <Application>Microsoft Office PowerPoint</Application>
  <PresentationFormat>Widescreen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Figtree</vt:lpstr>
      <vt:lpstr>Wingdings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Mindset Canvas</dc:title>
  <dc:subject/>
  <dc:creator>Hybrid DD team</dc:creator>
  <cp:keywords/>
  <dc:description/>
  <cp:lastModifiedBy>Hybrid DD team</cp:lastModifiedBy>
  <cp:revision>2</cp:revision>
  <dcterms:created xsi:type="dcterms:W3CDTF">2013-01-27T09:14:16Z</dcterms:created>
  <dcterms:modified xsi:type="dcterms:W3CDTF">2026-10-08T02:30:33Z</dcterms:modified>
  <cp:category/>
</cp:coreProperties>
</file>