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4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224" y="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grpSp>
        <p:nvGrpSpPr>
          <p:cNvPr id="30" name="Honeycomb (SlideHub 15712)"/>
          <p:cNvGrpSpPr/>
          <p:nvPr/>
        </p:nvGrpSpPr>
        <p:grpSpPr>
          <a:xfrm flipH="1">
            <a:off x="5120640" y="330425"/>
            <a:ext cx="7552944" cy="6197150"/>
            <a:chOff x="-381332" y="-1534985"/>
            <a:chExt cx="12099981" cy="9927970"/>
          </a:xfrm>
        </p:grpSpPr>
        <p:grpSp>
          <p:nvGrpSpPr>
            <p:cNvPr id="38" name="Group 36">
              <a:extLst>
                <a:ext uri="{FF2B5EF4-FFF2-40B4-BE49-F238E27FC236}">
                  <a16:creationId xmlns:a16="http://schemas.microsoft.com/office/drawing/2014/main" id="{F0178009-1073-4680-AAFC-DB97E91130CD}"/>
                </a:ext>
              </a:extLst>
            </p:cNvPr>
            <p:cNvGrpSpPr/>
            <p:nvPr/>
          </p:nvGrpSpPr>
          <p:grpSpPr>
            <a:xfrm>
              <a:off x="-381332" y="-1534985"/>
              <a:ext cx="12099981" cy="9927970"/>
              <a:chOff x="-381332" y="-1534985"/>
              <a:chExt cx="12099981" cy="992797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FA5F605-1C9C-4DBB-9455-83B0A6F6E88D}"/>
                  </a:ext>
                </a:extLst>
              </p:cNvPr>
              <p:cNvGrpSpPr/>
              <p:nvPr/>
            </p:nvGrpSpPr>
            <p:grpSpPr>
              <a:xfrm>
                <a:off x="-381332" y="-543333"/>
                <a:ext cx="5754012" cy="1846347"/>
                <a:chOff x="-662320" y="0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4" name="Hexagon 3">
                  <a:extLst>
                    <a:ext uri="{FF2B5EF4-FFF2-40B4-BE49-F238E27FC236}">
                      <a16:creationId xmlns:a16="http://schemas.microsoft.com/office/drawing/2014/main" id="{D62F568B-787B-48EC-B14C-B9A5F0B8D6FD}"/>
                    </a:ext>
                  </a:extLst>
                </p:cNvPr>
                <p:cNvSpPr/>
                <p:nvPr/>
              </p:nvSpPr>
              <p:spPr>
                <a:xfrm>
                  <a:off x="2451429" y="0"/>
                  <a:ext cx="1846195" cy="1591547"/>
                </a:xfrm>
                <a:prstGeom prst="hexagon">
                  <a:avLst/>
                </a:prstGeom>
                <a:solidFill>
                  <a:srgbClr val="157E97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5" name="Hexagon 4">
                  <a:extLst>
                    <a:ext uri="{FF2B5EF4-FFF2-40B4-BE49-F238E27FC236}">
                      <a16:creationId xmlns:a16="http://schemas.microsoft.com/office/drawing/2014/main" id="{1F6B91D2-D1D6-4C11-8DFD-F3B8361C19E2}"/>
                    </a:ext>
                  </a:extLst>
                </p:cNvPr>
                <p:cNvSpPr/>
                <p:nvPr/>
              </p:nvSpPr>
              <p:spPr>
                <a:xfrm>
                  <a:off x="-662320" y="0"/>
                  <a:ext cx="1846195" cy="1591547"/>
                </a:xfrm>
                <a:prstGeom prst="hexagon">
                  <a:avLst/>
                </a:prstGeom>
                <a:solidFill>
                  <a:srgbClr val="56A3AE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A2E059E-8C8C-40B0-BF90-23D0F1A0BBF8}"/>
                  </a:ext>
                </a:extLst>
              </p:cNvPr>
              <p:cNvGrpSpPr/>
              <p:nvPr/>
            </p:nvGrpSpPr>
            <p:grpSpPr>
              <a:xfrm>
                <a:off x="1421845" y="485421"/>
                <a:ext cx="5754012" cy="1846347"/>
                <a:chOff x="892014" y="871983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7" name="Hexagon 6">
                  <a:extLst>
                    <a:ext uri="{FF2B5EF4-FFF2-40B4-BE49-F238E27FC236}">
                      <a16:creationId xmlns:a16="http://schemas.microsoft.com/office/drawing/2014/main" id="{5E83D4CA-F9FD-41D3-B0A3-677A2F1E9BD5}"/>
                    </a:ext>
                  </a:extLst>
                </p:cNvPr>
                <p:cNvSpPr/>
                <p:nvPr/>
              </p:nvSpPr>
              <p:spPr>
                <a:xfrm>
                  <a:off x="4005763" y="871983"/>
                  <a:ext cx="1846195" cy="1591547"/>
                </a:xfrm>
                <a:prstGeom prst="hexagon">
                  <a:avLst/>
                </a:prstGeom>
                <a:solidFill>
                  <a:srgbClr val="A9CFD5">
                    <a:alpha val="65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8" name="Hexagon 7">
                  <a:extLst>
                    <a:ext uri="{FF2B5EF4-FFF2-40B4-BE49-F238E27FC236}">
                      <a16:creationId xmlns:a16="http://schemas.microsoft.com/office/drawing/2014/main" id="{1CEC40C0-7BA2-48EF-BCC0-C01B9FA512CF}"/>
                    </a:ext>
                  </a:extLst>
                </p:cNvPr>
                <p:cNvSpPr/>
                <p:nvPr/>
              </p:nvSpPr>
              <p:spPr>
                <a:xfrm>
                  <a:off x="892014" y="871983"/>
                  <a:ext cx="1846195" cy="1591547"/>
                </a:xfrm>
                <a:prstGeom prst="hexagon">
                  <a:avLst/>
                </a:prstGeom>
                <a:solidFill>
                  <a:srgbClr val="0B5670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7E2E405-3B55-4451-BC31-EEDDC4C3B485}"/>
                  </a:ext>
                </a:extLst>
              </p:cNvPr>
              <p:cNvGrpSpPr/>
              <p:nvPr/>
            </p:nvGrpSpPr>
            <p:grpSpPr>
              <a:xfrm>
                <a:off x="1421845" y="2505827"/>
                <a:ext cx="5754012" cy="1846347"/>
                <a:chOff x="892014" y="2616052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10" name="Hexagon 9">
                  <a:extLst>
                    <a:ext uri="{FF2B5EF4-FFF2-40B4-BE49-F238E27FC236}">
                      <a16:creationId xmlns:a16="http://schemas.microsoft.com/office/drawing/2014/main" id="{DD7E7D96-1367-432B-AC4B-DA3A9C9A7FFF}"/>
                    </a:ext>
                  </a:extLst>
                </p:cNvPr>
                <p:cNvSpPr/>
                <p:nvPr/>
              </p:nvSpPr>
              <p:spPr>
                <a:xfrm>
                  <a:off x="4005763" y="2616052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11" name="Hexagon 10">
                  <a:extLst>
                    <a:ext uri="{FF2B5EF4-FFF2-40B4-BE49-F238E27FC236}">
                      <a16:creationId xmlns:a16="http://schemas.microsoft.com/office/drawing/2014/main" id="{3C0B0677-09C0-4260-B420-320443781904}"/>
                    </a:ext>
                  </a:extLst>
                </p:cNvPr>
                <p:cNvSpPr/>
                <p:nvPr/>
              </p:nvSpPr>
              <p:spPr>
                <a:xfrm>
                  <a:off x="892014" y="2616052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4976F06-C21C-4C82-B76D-D7213930C71E}"/>
                  </a:ext>
                </a:extLst>
              </p:cNvPr>
              <p:cNvGrpSpPr/>
              <p:nvPr/>
            </p:nvGrpSpPr>
            <p:grpSpPr>
              <a:xfrm>
                <a:off x="1421845" y="4526233"/>
                <a:ext cx="5754012" cy="1846347"/>
                <a:chOff x="892014" y="4372382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13" name="Hexagon 12">
                  <a:extLst>
                    <a:ext uri="{FF2B5EF4-FFF2-40B4-BE49-F238E27FC236}">
                      <a16:creationId xmlns:a16="http://schemas.microsoft.com/office/drawing/2014/main" id="{78EAF3AB-7583-43CF-A98E-8909518014D5}"/>
                    </a:ext>
                  </a:extLst>
                </p:cNvPr>
                <p:cNvSpPr/>
                <p:nvPr/>
              </p:nvSpPr>
              <p:spPr>
                <a:xfrm>
                  <a:off x="4005763" y="4372382"/>
                  <a:ext cx="1846195" cy="1591547"/>
                </a:xfrm>
                <a:prstGeom prst="hexagon">
                  <a:avLst/>
                </a:prstGeom>
                <a:solidFill>
                  <a:srgbClr val="0B5670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14" name="Hexagon 13">
                  <a:extLst>
                    <a:ext uri="{FF2B5EF4-FFF2-40B4-BE49-F238E27FC236}">
                      <a16:creationId xmlns:a16="http://schemas.microsoft.com/office/drawing/2014/main" id="{E303B3BA-E957-4A6F-8A4E-0CA89A0D328A}"/>
                    </a:ext>
                  </a:extLst>
                </p:cNvPr>
                <p:cNvSpPr/>
                <p:nvPr/>
              </p:nvSpPr>
              <p:spPr>
                <a:xfrm>
                  <a:off x="892014" y="4372382"/>
                  <a:ext cx="1846195" cy="1591547"/>
                </a:xfrm>
                <a:prstGeom prst="hexagon">
                  <a:avLst/>
                </a:prstGeom>
                <a:solidFill>
                  <a:srgbClr val="65B8C1">
                    <a:alpha val="80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17987D9-4EA2-4624-B567-919B517B3B9D}"/>
                  </a:ext>
                </a:extLst>
              </p:cNvPr>
              <p:cNvGrpSpPr/>
              <p:nvPr/>
            </p:nvGrpSpPr>
            <p:grpSpPr>
              <a:xfrm>
                <a:off x="1421845" y="-1534985"/>
                <a:ext cx="5754012" cy="1846347"/>
                <a:chOff x="892014" y="-854802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16" name="Hexagon 15">
                  <a:extLst>
                    <a:ext uri="{FF2B5EF4-FFF2-40B4-BE49-F238E27FC236}">
                      <a16:creationId xmlns:a16="http://schemas.microsoft.com/office/drawing/2014/main" id="{892CBE97-C05A-4F3E-9363-BED8109A0AFB}"/>
                    </a:ext>
                  </a:extLst>
                </p:cNvPr>
                <p:cNvSpPr/>
                <p:nvPr/>
              </p:nvSpPr>
              <p:spPr>
                <a:xfrm>
                  <a:off x="4005763" y="-854802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17" name="Hexagon 16">
                  <a:extLst>
                    <a:ext uri="{FF2B5EF4-FFF2-40B4-BE49-F238E27FC236}">
                      <a16:creationId xmlns:a16="http://schemas.microsoft.com/office/drawing/2014/main" id="{584066B8-4C43-48AE-AD3F-8A656EA3BC2A}"/>
                    </a:ext>
                  </a:extLst>
                </p:cNvPr>
                <p:cNvSpPr/>
                <p:nvPr/>
              </p:nvSpPr>
              <p:spPr>
                <a:xfrm>
                  <a:off x="892014" y="-854802"/>
                  <a:ext cx="1846195" cy="1591547"/>
                </a:xfrm>
                <a:prstGeom prst="hexagon">
                  <a:avLst/>
                </a:prstGeom>
                <a:solidFill>
                  <a:srgbClr val="157E97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6B599F2-4686-4544-8DDB-F1871D39C58C}"/>
                  </a:ext>
                </a:extLst>
              </p:cNvPr>
              <p:cNvGrpSpPr/>
              <p:nvPr/>
            </p:nvGrpSpPr>
            <p:grpSpPr>
              <a:xfrm>
                <a:off x="1421845" y="6546638"/>
                <a:ext cx="5754012" cy="1846347"/>
                <a:chOff x="892014" y="6111537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19" name="Hexagon 18">
                  <a:extLst>
                    <a:ext uri="{FF2B5EF4-FFF2-40B4-BE49-F238E27FC236}">
                      <a16:creationId xmlns:a16="http://schemas.microsoft.com/office/drawing/2014/main" id="{99DA3C99-36CE-412F-91B8-7CF4FC09E48C}"/>
                    </a:ext>
                  </a:extLst>
                </p:cNvPr>
                <p:cNvSpPr/>
                <p:nvPr/>
              </p:nvSpPr>
              <p:spPr>
                <a:xfrm>
                  <a:off x="4005763" y="6111537"/>
                  <a:ext cx="1846195" cy="1591547"/>
                </a:xfrm>
                <a:prstGeom prst="hexagon">
                  <a:avLst/>
                </a:prstGeom>
                <a:solidFill>
                  <a:srgbClr val="65B8C1">
                    <a:alpha val="80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20" name="Hexagon 19">
                  <a:extLst>
                    <a:ext uri="{FF2B5EF4-FFF2-40B4-BE49-F238E27FC236}">
                      <a16:creationId xmlns:a16="http://schemas.microsoft.com/office/drawing/2014/main" id="{4BA570FB-1EDD-44D8-8CE8-F3BC437FAE9D}"/>
                    </a:ext>
                  </a:extLst>
                </p:cNvPr>
                <p:cNvSpPr/>
                <p:nvPr/>
              </p:nvSpPr>
              <p:spPr>
                <a:xfrm>
                  <a:off x="892014" y="6111537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BE2DCEA-5244-488D-813D-A2C1FE268731}"/>
                  </a:ext>
                </a:extLst>
              </p:cNvPr>
              <p:cNvGrpSpPr/>
              <p:nvPr/>
            </p:nvGrpSpPr>
            <p:grpSpPr>
              <a:xfrm>
                <a:off x="-381332" y="1490636"/>
                <a:ext cx="5754012" cy="1846347"/>
                <a:chOff x="-662320" y="0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22" name="Hexagon 21">
                  <a:extLst>
                    <a:ext uri="{FF2B5EF4-FFF2-40B4-BE49-F238E27FC236}">
                      <a16:creationId xmlns:a16="http://schemas.microsoft.com/office/drawing/2014/main" id="{28E17FFD-DCF1-4FF2-BC9B-00041E4E5C0B}"/>
                    </a:ext>
                  </a:extLst>
                </p:cNvPr>
                <p:cNvSpPr/>
                <p:nvPr/>
              </p:nvSpPr>
              <p:spPr>
                <a:xfrm>
                  <a:off x="2451429" y="0"/>
                  <a:ext cx="1846195" cy="1591547"/>
                </a:xfrm>
                <a:prstGeom prst="hexagon">
                  <a:avLst/>
                </a:prstGeom>
                <a:solidFill>
                  <a:srgbClr val="65B8C1">
                    <a:alpha val="80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23" name="Hexagon 22">
                  <a:extLst>
                    <a:ext uri="{FF2B5EF4-FFF2-40B4-BE49-F238E27FC236}">
                      <a16:creationId xmlns:a16="http://schemas.microsoft.com/office/drawing/2014/main" id="{1843649E-1439-4886-B3D0-B6FF83C48302}"/>
                    </a:ext>
                  </a:extLst>
                </p:cNvPr>
                <p:cNvSpPr/>
                <p:nvPr/>
              </p:nvSpPr>
              <p:spPr>
                <a:xfrm>
                  <a:off x="-662320" y="0"/>
                  <a:ext cx="1846195" cy="1591547"/>
                </a:xfrm>
                <a:prstGeom prst="hexagon">
                  <a:avLst/>
                </a:prstGeom>
                <a:solidFill>
                  <a:srgbClr val="56A3AE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B527628-C834-4C97-AEB8-595A6CC2B81A}"/>
                  </a:ext>
                </a:extLst>
              </p:cNvPr>
              <p:cNvGrpSpPr/>
              <p:nvPr/>
            </p:nvGrpSpPr>
            <p:grpSpPr>
              <a:xfrm>
                <a:off x="-381332" y="3524605"/>
                <a:ext cx="5754012" cy="1846347"/>
                <a:chOff x="-662320" y="0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25" name="Hexagon 24">
                  <a:extLst>
                    <a:ext uri="{FF2B5EF4-FFF2-40B4-BE49-F238E27FC236}">
                      <a16:creationId xmlns:a16="http://schemas.microsoft.com/office/drawing/2014/main" id="{65C4172E-71A6-4F8A-BDA0-363EDEFA3F5D}"/>
                    </a:ext>
                  </a:extLst>
                </p:cNvPr>
                <p:cNvSpPr/>
                <p:nvPr/>
              </p:nvSpPr>
              <p:spPr>
                <a:xfrm>
                  <a:off x="2451429" y="0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26" name="Hexagon 25">
                  <a:extLst>
                    <a:ext uri="{FF2B5EF4-FFF2-40B4-BE49-F238E27FC236}">
                      <a16:creationId xmlns:a16="http://schemas.microsoft.com/office/drawing/2014/main" id="{FD009C1F-09DE-410D-8DEC-E0D69F8BEA67}"/>
                    </a:ext>
                  </a:extLst>
                </p:cNvPr>
                <p:cNvSpPr/>
                <p:nvPr/>
              </p:nvSpPr>
              <p:spPr>
                <a:xfrm>
                  <a:off x="-662320" y="0"/>
                  <a:ext cx="1846195" cy="1591547"/>
                </a:xfrm>
                <a:prstGeom prst="hexagon">
                  <a:avLst/>
                </a:prstGeom>
                <a:solidFill>
                  <a:srgbClr val="238A91"/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E3D7250-9FD9-4AAA-B1D9-649FEA459ACF}"/>
                  </a:ext>
                </a:extLst>
              </p:cNvPr>
              <p:cNvGrpSpPr/>
              <p:nvPr/>
            </p:nvGrpSpPr>
            <p:grpSpPr>
              <a:xfrm>
                <a:off x="-381332" y="5558573"/>
                <a:ext cx="5754012" cy="1846347"/>
                <a:chOff x="-662320" y="0"/>
                <a:chExt cx="4959944" cy="1591547"/>
              </a:xfrm>
              <a:solidFill>
                <a:schemeClr val="accent1">
                  <a:lumMod val="40000"/>
                  <a:lumOff val="60000"/>
                  <a:alpha val="69804"/>
                </a:schemeClr>
              </a:solidFill>
            </p:grpSpPr>
            <p:sp>
              <p:nvSpPr>
                <p:cNvPr id="28" name="Hexagon 27">
                  <a:extLst>
                    <a:ext uri="{FF2B5EF4-FFF2-40B4-BE49-F238E27FC236}">
                      <a16:creationId xmlns:a16="http://schemas.microsoft.com/office/drawing/2014/main" id="{C61DA044-4A22-4031-9DC9-D48C1A996889}"/>
                    </a:ext>
                  </a:extLst>
                </p:cNvPr>
                <p:cNvSpPr/>
                <p:nvPr/>
              </p:nvSpPr>
              <p:spPr>
                <a:xfrm>
                  <a:off x="2451429" y="0"/>
                  <a:ext cx="1846195" cy="1591547"/>
                </a:xfrm>
                <a:prstGeom prst="hexagon">
                  <a:avLst/>
                </a:prstGeom>
                <a:solidFill>
                  <a:srgbClr val="A9CFD5">
                    <a:alpha val="65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  <p:sp>
              <p:nvSpPr>
                <p:cNvPr id="29" name="Hexagon 28">
                  <a:extLst>
                    <a:ext uri="{FF2B5EF4-FFF2-40B4-BE49-F238E27FC236}">
                      <a16:creationId xmlns:a16="http://schemas.microsoft.com/office/drawing/2014/main" id="{3DFC4239-BEA5-4E84-B6B1-D074843F337D}"/>
                    </a:ext>
                  </a:extLst>
                </p:cNvPr>
                <p:cNvSpPr/>
                <p:nvPr/>
              </p:nvSpPr>
              <p:spPr>
                <a:xfrm>
                  <a:off x="-662320" y="0"/>
                  <a:ext cx="1846195" cy="1591547"/>
                </a:xfrm>
                <a:prstGeom prst="hexagon">
                  <a:avLst/>
                </a:prstGeom>
                <a:solidFill>
                  <a:srgbClr val="A9CFD5">
                    <a:alpha val="65000"/>
                  </a:srgbClr>
                </a:solidFill>
                <a:ln w="38100">
                  <a:solidFill>
                    <a:srgbClr val="02415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/>
                </a:p>
              </p:txBody>
            </p:sp>
          </p:grpSp>
        </p:grpSp>
      </p:grpSp>
      <p:sp>
        <p:nvSpPr>
          <p:cNvPr id="39" name="Title"/>
          <p:cNvSpPr txBox="1"/>
          <p:nvPr/>
        </p:nvSpPr>
        <p:spPr>
          <a:xfrm>
            <a:off x="685800" y="182880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Figtree"/>
              </a:rPr>
              <a:t>Hybrid Regulatory Due-Diligence Team</a:t>
            </a:r>
          </a:p>
        </p:txBody>
      </p:sp>
      <p:sp>
        <p:nvSpPr>
          <p:cNvPr id="40" name="Accent"/>
          <p:cNvSpPr/>
          <p:nvPr/>
        </p:nvSpPr>
        <p:spPr>
          <a:xfrm>
            <a:off x="685800" y="3931920"/>
            <a:ext cx="1097280" cy="64008"/>
          </a:xfrm>
          <a:prstGeom prst="rect">
            <a:avLst/>
          </a:prstGeom>
          <a:solidFill>
            <a:srgbClr val="CB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1" name="Subtitle"/>
          <p:cNvSpPr txBox="1"/>
          <p:nvPr/>
        </p:nvSpPr>
        <p:spPr>
          <a:xfrm>
            <a:off x="685800" y="41605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dirty="0">
                <a:solidFill>
                  <a:srgbClr val="A9CFD5"/>
                </a:solidFill>
                <a:latin typeface="Figtree"/>
              </a:rPr>
              <a:t>Goal is to gather and assess evidence more consistently and </a:t>
            </a:r>
            <a:r>
              <a:rPr lang="en-US" sz="1900" dirty="0">
                <a:solidFill>
                  <a:srgbClr val="A9CFD5"/>
                </a:solidFill>
                <a:latin typeface="Figtree"/>
              </a:rPr>
              <a:t>i</a:t>
            </a:r>
            <a:r>
              <a:rPr sz="1900" b="0" dirty="0">
                <a:solidFill>
                  <a:srgbClr val="A9CFD5"/>
                </a:solidFill>
                <a:latin typeface="Figtree"/>
              </a:rPr>
              <a:t>dentify risk</a:t>
            </a:r>
            <a:r>
              <a:rPr lang="en-US" sz="1900" b="0" dirty="0">
                <a:solidFill>
                  <a:srgbClr val="A9CFD5"/>
                </a:solidFill>
                <a:latin typeface="Figtree"/>
              </a:rPr>
              <a:t>s</a:t>
            </a:r>
            <a:r>
              <a:rPr sz="1900" b="0" dirty="0">
                <a:solidFill>
                  <a:srgbClr val="A9CFD5"/>
                </a:solidFill>
                <a:latin typeface="Figtree"/>
              </a:rPr>
              <a:t> and mitigation</a:t>
            </a:r>
          </a:p>
        </p:txBody>
      </p:sp>
      <p:sp>
        <p:nvSpPr>
          <p:cNvPr id="42" name="Date"/>
          <p:cNvSpPr txBox="1"/>
          <p:nvPr/>
        </p:nvSpPr>
        <p:spPr>
          <a:xfrm>
            <a:off x="68580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>
                <a:solidFill>
                  <a:srgbClr val="A9CFD5"/>
                </a:solidFill>
                <a:latin typeface="Figtree"/>
              </a:rPr>
              <a:t>Working session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>
                <a:solidFill>
                  <a:srgbClr val="024157"/>
                </a:solidFill>
                <a:latin typeface="Figtree"/>
              </a:rPr>
              <a:t>Problem and Value Hypothesis</a:t>
            </a:r>
          </a:p>
        </p:txBody>
      </p:sp>
      <p:sp>
        <p:nvSpPr>
          <p:cNvPr id="3" name="Hook"/>
          <p:cNvSpPr/>
          <p:nvPr/>
        </p:nvSpPr>
        <p:spPr>
          <a:xfrm>
            <a:off x="457200" y="1097280"/>
            <a:ext cx="11274552" cy="1188720"/>
          </a:xfrm>
          <a:prstGeom prst="roundRect">
            <a:avLst>
              <a:gd name="adj" fmla="val 4273"/>
            </a:avLst>
          </a:prstGeom>
          <a:solidFill>
            <a:srgbClr val="024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91440" rIns="320040" bIns="91440" rtlCol="0" anchor="ctr">
            <a:no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Figtree"/>
              </a:rPr>
              <a:t>What if every</a:t>
            </a:r>
            <a:r>
              <a:rPr lang="en-US" sz="2300" b="1" dirty="0">
                <a:solidFill>
                  <a:srgbClr val="FFFFFF"/>
                </a:solidFill>
                <a:latin typeface="Figtree"/>
              </a:rPr>
              <a:t> regulatory due diligence</a:t>
            </a:r>
            <a:r>
              <a:rPr sz="2300" b="1" dirty="0">
                <a:solidFill>
                  <a:srgbClr val="FFFFFF"/>
                </a:solidFill>
                <a:latin typeface="Figtree"/>
              </a:rPr>
              <a:t> assessment began with a regulatory</a:t>
            </a:r>
            <a:r>
              <a:rPr lang="en-US" sz="2300" b="1" dirty="0">
                <a:solidFill>
                  <a:srgbClr val="FFFFFF"/>
                </a:solidFill>
                <a:latin typeface="Figtree"/>
              </a:rPr>
              <a:t> </a:t>
            </a:r>
            <a:r>
              <a:rPr lang="en-US" sz="2300" b="1" i="1" dirty="0">
                <a:solidFill>
                  <a:srgbClr val="FFFFFF"/>
                </a:solidFill>
                <a:latin typeface="Figtree"/>
              </a:rPr>
              <a:t>AI-enabled</a:t>
            </a:r>
            <a:r>
              <a:rPr sz="2300" b="1" i="1" dirty="0">
                <a:solidFill>
                  <a:srgbClr val="FFFFFF"/>
                </a:solidFill>
                <a:latin typeface="Figtree"/>
              </a:rPr>
              <a:t> </a:t>
            </a:r>
            <a:r>
              <a:rPr lang="en-US" sz="2300" b="1" i="1" dirty="0">
                <a:solidFill>
                  <a:srgbClr val="FFFFFF"/>
                </a:solidFill>
                <a:latin typeface="Figtree"/>
              </a:rPr>
              <a:t>hybrid</a:t>
            </a:r>
            <a:r>
              <a:rPr lang="en-US" sz="2300" b="1" dirty="0">
                <a:solidFill>
                  <a:srgbClr val="FFFFFF"/>
                </a:solidFill>
                <a:latin typeface="Figtree"/>
              </a:rPr>
              <a:t> </a:t>
            </a:r>
            <a:r>
              <a:rPr sz="2300" b="1" dirty="0">
                <a:solidFill>
                  <a:srgbClr val="FFFFFF"/>
                </a:solidFill>
                <a:latin typeface="Figtree"/>
              </a:rPr>
              <a:t>team behind the lead?</a:t>
            </a:r>
          </a:p>
          <a:p>
            <a:pPr algn="l">
              <a:spcBef>
                <a:spcPts val="600"/>
              </a:spcBef>
            </a:pPr>
            <a:r>
              <a:rPr sz="1500" b="0" dirty="0">
                <a:solidFill>
                  <a:srgbClr val="A9CFD5"/>
                </a:solidFill>
                <a:latin typeface="Figtree"/>
              </a:rPr>
              <a:t>Human and virtual specialists strengthen evidence review while the regulatory lead owns every decision</a:t>
            </a:r>
          </a:p>
        </p:txBody>
      </p:sp>
      <p:sp>
        <p:nvSpPr>
          <p:cNvPr id="4" name="Step Problem"/>
          <p:cNvSpPr/>
          <p:nvPr/>
        </p:nvSpPr>
        <p:spPr>
          <a:xfrm>
            <a:off x="457200" y="2514600"/>
            <a:ext cx="3875532" cy="502920"/>
          </a:xfrm>
          <a:prstGeom prst="homePlate">
            <a:avLst>
              <a:gd name="adj" fmla="val 35000"/>
            </a:avLst>
          </a:prstGeom>
          <a:solidFill>
            <a:srgbClr val="238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82880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Figtree"/>
              </a:rPr>
              <a:t>Problem</a:t>
            </a:r>
          </a:p>
        </p:txBody>
      </p:sp>
      <p:sp>
        <p:nvSpPr>
          <p:cNvPr id="5" name="Step Consequence"/>
          <p:cNvSpPr/>
          <p:nvPr/>
        </p:nvSpPr>
        <p:spPr>
          <a:xfrm>
            <a:off x="4193286" y="2514600"/>
            <a:ext cx="3875532" cy="502920"/>
          </a:xfrm>
          <a:prstGeom prst="chevron">
            <a:avLst>
              <a:gd name="adj" fmla="val 35000"/>
            </a:avLst>
          </a:prstGeom>
          <a:solidFill>
            <a:srgbClr val="56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182880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Figtree"/>
              </a:rPr>
              <a:t>Consequence</a:t>
            </a:r>
          </a:p>
        </p:txBody>
      </p:sp>
      <p:sp>
        <p:nvSpPr>
          <p:cNvPr id="6" name="Step Value Hypothesis"/>
          <p:cNvSpPr/>
          <p:nvPr/>
        </p:nvSpPr>
        <p:spPr>
          <a:xfrm>
            <a:off x="7929372" y="2514600"/>
            <a:ext cx="3875532" cy="502920"/>
          </a:xfrm>
          <a:prstGeom prst="chevron">
            <a:avLst>
              <a:gd name="adj" fmla="val 35000"/>
            </a:avLst>
          </a:prstGeom>
          <a:solidFill>
            <a:srgbClr val="157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182880" bIns="18288" rtlCol="0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Figtree"/>
              </a:rPr>
              <a:t>Value Hypothesis</a:t>
            </a:r>
          </a:p>
        </p:txBody>
      </p:sp>
      <p:sp>
        <p:nvSpPr>
          <p:cNvPr id="7" name="Problem 1"/>
          <p:cNvSpPr/>
          <p:nvPr/>
        </p:nvSpPr>
        <p:spPr>
          <a:xfrm>
            <a:off x="457200" y="3154680"/>
            <a:ext cx="3611880" cy="729234"/>
          </a:xfrm>
          <a:prstGeom prst="roundRect">
            <a:avLst>
              <a:gd name="adj" fmla="val 696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400" b="0">
                <a:solidFill>
                  <a:srgbClr val="1F2A30"/>
                </a:solidFill>
                <a:latin typeface="Figtree"/>
              </a:rPr>
              <a:t>Demand is rising across asset stages</a:t>
            </a:r>
          </a:p>
        </p:txBody>
      </p:sp>
      <p:sp>
        <p:nvSpPr>
          <p:cNvPr id="8" name="Problem 2"/>
          <p:cNvSpPr/>
          <p:nvPr/>
        </p:nvSpPr>
        <p:spPr>
          <a:xfrm>
            <a:off x="457200" y="3993641"/>
            <a:ext cx="3611880" cy="729234"/>
          </a:xfrm>
          <a:prstGeom prst="roundRect">
            <a:avLst>
              <a:gd name="adj" fmla="val 696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400" b="0">
                <a:solidFill>
                  <a:srgbClr val="1F2A30"/>
                </a:solidFill>
                <a:latin typeface="Figtree"/>
              </a:rPr>
              <a:t>Novel modalities, CMC requirements, and regulations increase complexity</a:t>
            </a:r>
          </a:p>
        </p:txBody>
      </p:sp>
      <p:sp>
        <p:nvSpPr>
          <p:cNvPr id="9" name="Problem 3"/>
          <p:cNvSpPr/>
          <p:nvPr/>
        </p:nvSpPr>
        <p:spPr>
          <a:xfrm>
            <a:off x="457200" y="4832604"/>
            <a:ext cx="3611880" cy="729234"/>
          </a:xfrm>
          <a:prstGeom prst="roundRect">
            <a:avLst>
              <a:gd name="adj" fmla="val 696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400" b="0">
                <a:solidFill>
                  <a:srgbClr val="1F2A30"/>
                </a:solidFill>
                <a:latin typeface="Figtree"/>
              </a:rPr>
              <a:t>Strained regulatory resources face unpredictable asks and tight deadlines</a:t>
            </a:r>
          </a:p>
        </p:txBody>
      </p:sp>
      <p:sp>
        <p:nvSpPr>
          <p:cNvPr id="10" name="Problem 4"/>
          <p:cNvSpPr/>
          <p:nvPr/>
        </p:nvSpPr>
        <p:spPr>
          <a:xfrm>
            <a:off x="457200" y="5671566"/>
            <a:ext cx="3611880" cy="729234"/>
          </a:xfrm>
          <a:prstGeom prst="roundRect">
            <a:avLst>
              <a:gd name="adj" fmla="val 6966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lang="en-US" sz="1400" dirty="0">
                <a:solidFill>
                  <a:srgbClr val="1F2A30"/>
                </a:solidFill>
                <a:latin typeface="Figtree"/>
              </a:rPr>
              <a:t>Solely human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 work 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increases risk of 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miss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ing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 nuanced risks</a:t>
            </a:r>
          </a:p>
        </p:txBody>
      </p:sp>
      <p:sp>
        <p:nvSpPr>
          <p:cNvPr id="11" name="Consequence 1"/>
          <p:cNvSpPr/>
          <p:nvPr/>
        </p:nvSpPr>
        <p:spPr>
          <a:xfrm>
            <a:off x="4288536" y="5391912"/>
            <a:ext cx="3611880" cy="1008888"/>
          </a:xfrm>
          <a:prstGeom prst="roundRect">
            <a:avLst>
              <a:gd name="adj" fmla="val 5035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400" b="0">
                <a:solidFill>
                  <a:srgbClr val="1F2A30"/>
                </a:solidFill>
                <a:latin typeface="Figtree"/>
              </a:rPr>
              <a:t>Missed risks yield bad deals</a:t>
            </a:r>
          </a:p>
        </p:txBody>
      </p:sp>
      <p:sp>
        <p:nvSpPr>
          <p:cNvPr id="12" name="Consequence 2"/>
          <p:cNvSpPr/>
          <p:nvPr/>
        </p:nvSpPr>
        <p:spPr>
          <a:xfrm>
            <a:off x="4288536" y="4273296"/>
            <a:ext cx="3611880" cy="1008888"/>
          </a:xfrm>
          <a:prstGeom prst="roundRect">
            <a:avLst>
              <a:gd name="adj" fmla="val 5035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1F2A30"/>
                </a:solidFill>
                <a:latin typeface="Figtree"/>
              </a:rPr>
              <a:t>Conservative human approaches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 lose opportunities</a:t>
            </a:r>
          </a:p>
        </p:txBody>
      </p:sp>
      <p:sp>
        <p:nvSpPr>
          <p:cNvPr id="13" name="Consequence 3"/>
          <p:cNvSpPr/>
          <p:nvPr/>
        </p:nvSpPr>
        <p:spPr>
          <a:xfrm>
            <a:off x="4288536" y="3154680"/>
            <a:ext cx="3611880" cy="1008888"/>
          </a:xfrm>
          <a:prstGeom prst="roundRect">
            <a:avLst>
              <a:gd name="adj" fmla="val 5035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400" b="0">
                <a:solidFill>
                  <a:srgbClr val="1F2A30"/>
                </a:solidFill>
                <a:latin typeface="Figtree"/>
              </a:rPr>
              <a:t>Regulatory voice is not heard</a:t>
            </a:r>
          </a:p>
        </p:txBody>
      </p:sp>
      <p:sp>
        <p:nvSpPr>
          <p:cNvPr id="14" name="Hypothesis"/>
          <p:cNvSpPr/>
          <p:nvPr/>
        </p:nvSpPr>
        <p:spPr>
          <a:xfrm>
            <a:off x="8119872" y="3154680"/>
            <a:ext cx="3611880" cy="3246120"/>
          </a:xfrm>
          <a:prstGeom prst="roundRect">
            <a:avLst>
              <a:gd name="adj" fmla="val 1564"/>
            </a:avLst>
          </a:prstGeom>
          <a:solidFill>
            <a:srgbClr val="E3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>
            <a:noAutofit/>
          </a:bodyPr>
          <a:lstStyle/>
          <a:p>
            <a:pPr algn="l"/>
            <a:r>
              <a:rPr sz="1800" b="1">
                <a:solidFill>
                  <a:srgbClr val="024157"/>
                </a:solidFill>
                <a:latin typeface="Figtree"/>
              </a:rPr>
              <a:t>If hybrid teams improve evidence review, recommendations will reflect comprehensive regulatory risk and opportunity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595959"/>
                </a:solidFill>
                <a:latin typeface="Figtree"/>
              </a:rPr>
              <a:t>This value hypothesis guides the experiments and does not constitute a business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 dirty="0">
                <a:solidFill>
                  <a:srgbClr val="024157"/>
                </a:solidFill>
                <a:latin typeface="Figtree"/>
              </a:rPr>
              <a:t>Proposal</a:t>
            </a:r>
            <a:r>
              <a:rPr lang="en-US" sz="3200" b="1" dirty="0">
                <a:solidFill>
                  <a:srgbClr val="024157"/>
                </a:solidFill>
                <a:latin typeface="Figtree"/>
              </a:rPr>
              <a:t> for Proving Value Hypothesis</a:t>
            </a:r>
            <a:endParaRPr sz="3200" b="1" dirty="0">
              <a:solidFill>
                <a:srgbClr val="024157"/>
              </a:solidFill>
              <a:latin typeface="Figtree"/>
            </a:endParaRPr>
          </a:p>
        </p:txBody>
      </p:sp>
      <p:sp>
        <p:nvSpPr>
          <p:cNvPr id="3" name="Proposal lead"/>
          <p:cNvSpPr txBox="1"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>
                <a:solidFill>
                  <a:srgbClr val="1F2A30"/>
                </a:solidFill>
                <a:latin typeface="Figtree"/>
              </a:rPr>
              <a:t>We propose staged experiments with named accountability and controlled boundaries</a:t>
            </a:r>
          </a:p>
        </p:txBody>
      </p:sp>
      <p:grpSp>
        <p:nvGrpSpPr>
          <p:cNvPr id="19" name="Experiment staircase (SlideHub 132614)"/>
          <p:cNvGrpSpPr/>
          <p:nvPr/>
        </p:nvGrpSpPr>
        <p:grpSpPr>
          <a:xfrm>
            <a:off x="457200" y="1280160"/>
            <a:ext cx="11274552" cy="3429000"/>
            <a:chOff x="336374" y="1162626"/>
            <a:chExt cx="11520664" cy="4895274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FF9996ED-3777-45D7-91D6-8614471DC85E}"/>
                </a:ext>
              </a:extLst>
            </p:cNvPr>
            <p:cNvSpPr/>
            <p:nvPr/>
          </p:nvSpPr>
          <p:spPr>
            <a:xfrm>
              <a:off x="336374" y="4798361"/>
              <a:ext cx="2303907" cy="1259537"/>
            </a:xfrm>
            <a:prstGeom prst="rect">
              <a:avLst/>
            </a:prstGeom>
            <a:solidFill>
              <a:srgbClr val="E6F2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18288" bIns="246888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>
                  <a:solidFill>
                    <a:srgbClr val="1F2A30"/>
                  </a:solidFill>
                  <a:latin typeface="Figtree"/>
                </a:rPr>
                <a:t>Owners, inputs, and baseline precede testing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0CA7A8C0-2DED-4052-8C00-864E17AB3788}"/>
                </a:ext>
              </a:extLst>
            </p:cNvPr>
            <p:cNvSpPr/>
            <p:nvPr/>
          </p:nvSpPr>
          <p:spPr>
            <a:xfrm>
              <a:off x="2640281" y="4277472"/>
              <a:ext cx="2303907" cy="1780427"/>
            </a:xfrm>
            <a:prstGeom prst="rect">
              <a:avLst/>
            </a:prstGeom>
            <a:solidFill>
              <a:srgbClr val="E3F1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18288" bIns="246888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>
                  <a:solidFill>
                    <a:srgbClr val="1F2A30"/>
                  </a:solidFill>
                  <a:latin typeface="Figtree"/>
                </a:rPr>
                <a:t>Two or three closed cases test recall and citations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9B05925-D22E-40E4-83CA-4B65EE4AC28A}"/>
                </a:ext>
              </a:extLst>
            </p:cNvPr>
            <p:cNvSpPr/>
            <p:nvPr/>
          </p:nvSpPr>
          <p:spPr>
            <a:xfrm>
              <a:off x="4944188" y="3548694"/>
              <a:ext cx="2303907" cy="2509205"/>
            </a:xfrm>
            <a:prstGeom prst="rect">
              <a:avLst/>
            </a:prstGeom>
            <a:solidFill>
              <a:srgbClr val="E6F2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18288" bIns="246888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>
                  <a:solidFill>
                    <a:srgbClr val="1F2A30"/>
                  </a:solidFill>
                  <a:latin typeface="Figtree"/>
                </a:rPr>
                <a:t>One or two live assessments test deadline performance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CC15B69-B589-4D8F-BAF9-20C6FA44805A}"/>
                </a:ext>
              </a:extLst>
            </p:cNvPr>
            <p:cNvSpPr/>
            <p:nvPr/>
          </p:nvSpPr>
          <p:spPr>
            <a:xfrm>
              <a:off x="7248094" y="2823311"/>
              <a:ext cx="2303907" cy="3234588"/>
            </a:xfrm>
            <a:prstGeom prst="rect">
              <a:avLst/>
            </a:prstGeom>
            <a:solidFill>
              <a:srgbClr val="E3F1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18288" bIns="246888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>
                  <a:solidFill>
                    <a:srgbClr val="1F2A30"/>
                  </a:solidFill>
                  <a:latin typeface="Figtree"/>
                </a:rPr>
                <a:t>Specialists validate outputs before leads measure time and effort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0BCC6A33-1A50-4BD1-9F77-6AE62E6FA786}"/>
                </a:ext>
              </a:extLst>
            </p:cNvPr>
            <p:cNvSpPr/>
            <p:nvPr/>
          </p:nvSpPr>
          <p:spPr>
            <a:xfrm>
              <a:off x="9552001" y="2094533"/>
              <a:ext cx="2305036" cy="3963366"/>
            </a:xfrm>
            <a:prstGeom prst="rect">
              <a:avLst/>
            </a:prstGeom>
            <a:solidFill>
              <a:srgbClr val="E6F2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18288" bIns="246888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0">
                  <a:solidFill>
                    <a:srgbClr val="1F2A30"/>
                  </a:solidFill>
                  <a:latin typeface="Figtree"/>
                </a:rPr>
                <a:t>Leaders scale when quality, adoption, and efficiency thresholds pass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B83AA53-6B55-46AF-86CF-5395D769CC2C}"/>
                </a:ext>
              </a:extLst>
            </p:cNvPr>
            <p:cNvSpPr/>
            <p:nvPr/>
          </p:nvSpPr>
          <p:spPr>
            <a:xfrm>
              <a:off x="336374" y="4594119"/>
              <a:ext cx="2303907" cy="206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E1BB9AB9-0155-460C-A939-27AFE70D707F}"/>
                </a:ext>
              </a:extLst>
            </p:cNvPr>
            <p:cNvSpPr/>
            <p:nvPr/>
          </p:nvSpPr>
          <p:spPr>
            <a:xfrm>
              <a:off x="2640280" y="4074205"/>
              <a:ext cx="2303907" cy="206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5D9BA84C-AA34-4A39-93B7-2D359D6932DE}"/>
                </a:ext>
              </a:extLst>
            </p:cNvPr>
            <p:cNvSpPr/>
            <p:nvPr/>
          </p:nvSpPr>
          <p:spPr>
            <a:xfrm>
              <a:off x="4944187" y="3345427"/>
              <a:ext cx="2303907" cy="206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775F2F88-9C4A-45F6-B181-38CAB001515D}"/>
                </a:ext>
              </a:extLst>
            </p:cNvPr>
            <p:cNvSpPr/>
            <p:nvPr/>
          </p:nvSpPr>
          <p:spPr>
            <a:xfrm>
              <a:off x="7248095" y="2616649"/>
              <a:ext cx="2303907" cy="2066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4706733B-DE0B-4D9F-AD9B-064673F237B7}"/>
                </a:ext>
              </a:extLst>
            </p:cNvPr>
            <p:cNvSpPr/>
            <p:nvPr/>
          </p:nvSpPr>
          <p:spPr>
            <a:xfrm>
              <a:off x="9552002" y="1887871"/>
              <a:ext cx="2305036" cy="206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3A25FFCB-9E14-4A09-86A8-864FC2E8A78F}"/>
                </a:ext>
              </a:extLst>
            </p:cNvPr>
            <p:cNvSpPr/>
            <p:nvPr/>
          </p:nvSpPr>
          <p:spPr>
            <a:xfrm>
              <a:off x="336374" y="5735028"/>
              <a:ext cx="2303907" cy="3228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FFFFFF"/>
                  </a:solidFill>
                  <a:latin typeface="Figtree"/>
                </a:rPr>
                <a:t>Set Up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82E0C2C3-8F3C-4172-BAA1-6F8E71793C55}"/>
                </a:ext>
              </a:extLst>
            </p:cNvPr>
            <p:cNvSpPr/>
            <p:nvPr/>
          </p:nvSpPr>
          <p:spPr>
            <a:xfrm>
              <a:off x="2640281" y="5735028"/>
              <a:ext cx="2303907" cy="3228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FFFFFF"/>
                  </a:solidFill>
                  <a:latin typeface="Figtree"/>
                </a:rPr>
                <a:t>Replay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CD317260-D90B-43A0-9662-5A1ADADA8F39}"/>
                </a:ext>
              </a:extLst>
            </p:cNvPr>
            <p:cNvSpPr/>
            <p:nvPr/>
          </p:nvSpPr>
          <p:spPr>
            <a:xfrm>
              <a:off x="4944188" y="5735028"/>
              <a:ext cx="2303907" cy="3228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FFFFFF"/>
                  </a:solidFill>
                  <a:latin typeface="Figtree"/>
                </a:rPr>
                <a:t>Shadow Run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D01D62E-1EA4-415D-81DA-BFD18F29AF10}"/>
                </a:ext>
              </a:extLst>
            </p:cNvPr>
            <p:cNvSpPr/>
            <p:nvPr/>
          </p:nvSpPr>
          <p:spPr>
            <a:xfrm>
              <a:off x="7248095" y="5735028"/>
              <a:ext cx="2303907" cy="3228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FFFFFF"/>
                  </a:solidFill>
                  <a:latin typeface="Figtree"/>
                </a:rPr>
                <a:t>Assisted Use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80E8505E-D649-4ADC-AA23-FBAEDB66E197}"/>
                </a:ext>
              </a:extLst>
            </p:cNvPr>
            <p:cNvSpPr/>
            <p:nvPr/>
          </p:nvSpPr>
          <p:spPr>
            <a:xfrm>
              <a:off x="9552002" y="5735028"/>
              <a:ext cx="2305036" cy="3228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0" rIns="18288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26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1">
                  <a:solidFill>
                    <a:srgbClr val="FFFFFF"/>
                  </a:solidFill>
                  <a:latin typeface="Figtree"/>
                </a:rPr>
                <a:t>Scale Gate</a:t>
              </a:r>
            </a:p>
          </p:txBody>
        </p:sp>
        <p:grpSp>
          <p:nvGrpSpPr>
            <p:cNvPr id="39" name="Graphic 71" descr="Flag">
              <a:extLst>
                <a:ext uri="{FF2B5EF4-FFF2-40B4-BE49-F238E27FC236}">
                  <a16:creationId xmlns:a16="http://schemas.microsoft.com/office/drawing/2014/main" id="{882F4911-0D5E-46DC-B2EB-D70B6CCE058E}"/>
                </a:ext>
              </a:extLst>
            </p:cNvPr>
            <p:cNvGrpSpPr/>
            <p:nvPr/>
          </p:nvGrpSpPr>
          <p:grpSpPr>
            <a:xfrm flipH="1">
              <a:off x="958047" y="3833737"/>
              <a:ext cx="539912" cy="754317"/>
              <a:chOff x="400833" y="3872217"/>
              <a:chExt cx="914400" cy="914400"/>
            </a:xfrm>
            <a:solidFill>
              <a:schemeClr val="accent1"/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477B714-998A-41FF-97CE-D27D392F0B47}"/>
                  </a:ext>
                </a:extLst>
              </p:cNvPr>
              <p:cNvSpPr/>
              <p:nvPr/>
            </p:nvSpPr>
            <p:spPr>
              <a:xfrm>
                <a:off x="591333" y="3949369"/>
                <a:ext cx="57150" cy="761999"/>
              </a:xfrm>
              <a:custGeom>
                <a:avLst/>
                <a:gdLst>
                  <a:gd name="connsiteX0" fmla="*/ 28575 w 57150"/>
                  <a:gd name="connsiteY0" fmla="*/ 0 h 761999"/>
                  <a:gd name="connsiteX1" fmla="*/ 0 w 57150"/>
                  <a:gd name="connsiteY1" fmla="*/ 28575 h 761999"/>
                  <a:gd name="connsiteX2" fmla="*/ 0 w 57150"/>
                  <a:gd name="connsiteY2" fmla="*/ 762000 h 761999"/>
                  <a:gd name="connsiteX3" fmla="*/ 57150 w 57150"/>
                  <a:gd name="connsiteY3" fmla="*/ 762000 h 761999"/>
                  <a:gd name="connsiteX4" fmla="*/ 57150 w 57150"/>
                  <a:gd name="connsiteY4" fmla="*/ 28575 h 761999"/>
                  <a:gd name="connsiteX5" fmla="*/ 28575 w 57150"/>
                  <a:gd name="connsiteY5" fmla="*/ 0 h 76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50" h="761999">
                    <a:moveTo>
                      <a:pt x="28575" y="0"/>
                    </a:moveTo>
                    <a:cubicBezTo>
                      <a:pt x="12382" y="0"/>
                      <a:pt x="0" y="12382"/>
                      <a:pt x="0" y="28575"/>
                    </a:cubicBezTo>
                    <a:lnTo>
                      <a:pt x="0" y="762000"/>
                    </a:lnTo>
                    <a:lnTo>
                      <a:pt x="57150" y="762000"/>
                    </a:lnTo>
                    <a:lnTo>
                      <a:pt x="57150" y="28575"/>
                    </a:lnTo>
                    <a:cubicBezTo>
                      <a:pt x="57150" y="12382"/>
                      <a:pt x="44768" y="0"/>
                      <a:pt x="285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AA721D6-FB61-4D4D-880D-048456991ED6}"/>
                  </a:ext>
                </a:extLst>
              </p:cNvPr>
              <p:cNvSpPr/>
              <p:nvPr/>
            </p:nvSpPr>
            <p:spPr>
              <a:xfrm>
                <a:off x="686583" y="3947464"/>
                <a:ext cx="438150" cy="342900"/>
              </a:xfrm>
              <a:custGeom>
                <a:avLst/>
                <a:gdLst>
                  <a:gd name="connsiteX0" fmla="*/ 120968 w 438150"/>
                  <a:gd name="connsiteY0" fmla="*/ 0 h 342900"/>
                  <a:gd name="connsiteX1" fmla="*/ 0 w 438150"/>
                  <a:gd name="connsiteY1" fmla="*/ 27623 h 342900"/>
                  <a:gd name="connsiteX2" fmla="*/ 0 w 438150"/>
                  <a:gd name="connsiteY2" fmla="*/ 342900 h 342900"/>
                  <a:gd name="connsiteX3" fmla="*/ 120968 w 438150"/>
                  <a:gd name="connsiteY3" fmla="*/ 315278 h 342900"/>
                  <a:gd name="connsiteX4" fmla="*/ 438150 w 438150"/>
                  <a:gd name="connsiteY4" fmla="*/ 317183 h 342900"/>
                  <a:gd name="connsiteX5" fmla="*/ 438150 w 438150"/>
                  <a:gd name="connsiteY5" fmla="*/ 1905 h 342900"/>
                  <a:gd name="connsiteX6" fmla="*/ 120968 w 438150"/>
                  <a:gd name="connsiteY6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150" h="342900">
                    <a:moveTo>
                      <a:pt x="120968" y="0"/>
                    </a:moveTo>
                    <a:cubicBezTo>
                      <a:pt x="37148" y="0"/>
                      <a:pt x="0" y="27623"/>
                      <a:pt x="0" y="27623"/>
                    </a:cubicBezTo>
                    <a:lnTo>
                      <a:pt x="0" y="342900"/>
                    </a:lnTo>
                    <a:cubicBezTo>
                      <a:pt x="0" y="342900"/>
                      <a:pt x="36195" y="315278"/>
                      <a:pt x="120968" y="315278"/>
                    </a:cubicBezTo>
                    <a:cubicBezTo>
                      <a:pt x="221933" y="315278"/>
                      <a:pt x="320993" y="370523"/>
                      <a:pt x="438150" y="317183"/>
                    </a:cubicBezTo>
                    <a:lnTo>
                      <a:pt x="438150" y="1905"/>
                    </a:lnTo>
                    <a:cubicBezTo>
                      <a:pt x="290513" y="45720"/>
                      <a:pt x="221933" y="0"/>
                      <a:pt x="1209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0" name="Graphic 77" descr="Walk">
              <a:extLst>
                <a:ext uri="{FF2B5EF4-FFF2-40B4-BE49-F238E27FC236}">
                  <a16:creationId xmlns:a16="http://schemas.microsoft.com/office/drawing/2014/main" id="{F1099675-BC1F-4349-B187-44A2AABD8BA6}"/>
                </a:ext>
              </a:extLst>
            </p:cNvPr>
            <p:cNvGrpSpPr/>
            <p:nvPr/>
          </p:nvGrpSpPr>
          <p:grpSpPr>
            <a:xfrm>
              <a:off x="1748072" y="3873026"/>
              <a:ext cx="315160" cy="675743"/>
              <a:chOff x="1680630" y="3919844"/>
              <a:chExt cx="533759" cy="819150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F41599E-5B12-4220-8E14-F68D261D8BAF}"/>
                  </a:ext>
                </a:extLst>
              </p:cNvPr>
              <p:cNvSpPr/>
              <p:nvPr/>
            </p:nvSpPr>
            <p:spPr>
              <a:xfrm>
                <a:off x="1919016" y="3919844"/>
                <a:ext cx="152400" cy="152400"/>
              </a:xfrm>
              <a:custGeom>
                <a:avLst/>
                <a:gdLst>
                  <a:gd name="connsiteX0" fmla="*/ 152400 w 152400"/>
                  <a:gd name="connsiteY0" fmla="*/ 76200 h 152400"/>
                  <a:gd name="connsiteX1" fmla="*/ 76200 w 152400"/>
                  <a:gd name="connsiteY1" fmla="*/ 152400 h 152400"/>
                  <a:gd name="connsiteX2" fmla="*/ 0 w 152400"/>
                  <a:gd name="connsiteY2" fmla="*/ 76200 h 152400"/>
                  <a:gd name="connsiteX3" fmla="*/ 76200 w 152400"/>
                  <a:gd name="connsiteY3" fmla="*/ 0 h 152400"/>
                  <a:gd name="connsiteX4" fmla="*/ 152400 w 152400"/>
                  <a:gd name="connsiteY4" fmla="*/ 762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152400">
                    <a:moveTo>
                      <a:pt x="152400" y="76200"/>
                    </a:move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21AE0F5-41FF-4647-B10E-EC7677A2FC2E}"/>
                  </a:ext>
                </a:extLst>
              </p:cNvPr>
              <p:cNvSpPr/>
              <p:nvPr/>
            </p:nvSpPr>
            <p:spPr>
              <a:xfrm>
                <a:off x="1680630" y="4091294"/>
                <a:ext cx="533759" cy="647700"/>
              </a:xfrm>
              <a:custGeom>
                <a:avLst/>
                <a:gdLst>
                  <a:gd name="connsiteX0" fmla="*/ 507943 w 533759"/>
                  <a:gd name="connsiteY0" fmla="*/ 201930 h 647700"/>
                  <a:gd name="connsiteX1" fmla="*/ 409835 w 533759"/>
                  <a:gd name="connsiteY1" fmla="*/ 169545 h 647700"/>
                  <a:gd name="connsiteX2" fmla="*/ 353638 w 533759"/>
                  <a:gd name="connsiteY2" fmla="*/ 40005 h 647700"/>
                  <a:gd name="connsiteX3" fmla="*/ 286963 w 533759"/>
                  <a:gd name="connsiteY3" fmla="*/ 0 h 647700"/>
                  <a:gd name="connsiteX4" fmla="*/ 254578 w 533759"/>
                  <a:gd name="connsiteY4" fmla="*/ 7620 h 647700"/>
                  <a:gd name="connsiteX5" fmla="*/ 121228 w 533759"/>
                  <a:gd name="connsiteY5" fmla="*/ 60007 h 647700"/>
                  <a:gd name="connsiteX6" fmla="*/ 100273 w 533759"/>
                  <a:gd name="connsiteY6" fmla="*/ 80963 h 647700"/>
                  <a:gd name="connsiteX7" fmla="*/ 52648 w 533759"/>
                  <a:gd name="connsiteY7" fmla="*/ 195263 h 647700"/>
                  <a:gd name="connsiteX8" fmla="*/ 73603 w 533759"/>
                  <a:gd name="connsiteY8" fmla="*/ 244793 h 647700"/>
                  <a:gd name="connsiteX9" fmla="*/ 87890 w 533759"/>
                  <a:gd name="connsiteY9" fmla="*/ 247650 h 647700"/>
                  <a:gd name="connsiteX10" fmla="*/ 123133 w 533759"/>
                  <a:gd name="connsiteY10" fmla="*/ 223838 h 647700"/>
                  <a:gd name="connsiteX11" fmla="*/ 162185 w 533759"/>
                  <a:gd name="connsiteY11" fmla="*/ 124777 h 647700"/>
                  <a:gd name="connsiteX12" fmla="*/ 202190 w 533759"/>
                  <a:gd name="connsiteY12" fmla="*/ 109538 h 647700"/>
                  <a:gd name="connsiteX13" fmla="*/ 136468 w 533759"/>
                  <a:gd name="connsiteY13" fmla="*/ 430530 h 647700"/>
                  <a:gd name="connsiteX14" fmla="*/ 8833 w 533759"/>
                  <a:gd name="connsiteY14" fmla="*/ 585788 h 647700"/>
                  <a:gd name="connsiteX15" fmla="*/ 13595 w 533759"/>
                  <a:gd name="connsiteY15" fmla="*/ 639128 h 647700"/>
                  <a:gd name="connsiteX16" fmla="*/ 37408 w 533759"/>
                  <a:gd name="connsiteY16" fmla="*/ 647700 h 647700"/>
                  <a:gd name="connsiteX17" fmla="*/ 66935 w 533759"/>
                  <a:gd name="connsiteY17" fmla="*/ 633413 h 647700"/>
                  <a:gd name="connsiteX18" fmla="*/ 200285 w 533759"/>
                  <a:gd name="connsiteY18" fmla="*/ 471488 h 647700"/>
                  <a:gd name="connsiteX19" fmla="*/ 207905 w 533759"/>
                  <a:gd name="connsiteY19" fmla="*/ 455295 h 647700"/>
                  <a:gd name="connsiteX20" fmla="*/ 230765 w 533759"/>
                  <a:gd name="connsiteY20" fmla="*/ 344805 h 647700"/>
                  <a:gd name="connsiteX21" fmla="*/ 333635 w 533759"/>
                  <a:gd name="connsiteY21" fmla="*/ 419100 h 647700"/>
                  <a:gd name="connsiteX22" fmla="*/ 333635 w 533759"/>
                  <a:gd name="connsiteY22" fmla="*/ 609600 h 647700"/>
                  <a:gd name="connsiteX23" fmla="*/ 371735 w 533759"/>
                  <a:gd name="connsiteY23" fmla="*/ 647700 h 647700"/>
                  <a:gd name="connsiteX24" fmla="*/ 409835 w 533759"/>
                  <a:gd name="connsiteY24" fmla="*/ 609600 h 647700"/>
                  <a:gd name="connsiteX25" fmla="*/ 409835 w 533759"/>
                  <a:gd name="connsiteY25" fmla="*/ 400050 h 647700"/>
                  <a:gd name="connsiteX26" fmla="*/ 394595 w 533759"/>
                  <a:gd name="connsiteY26" fmla="*/ 369570 h 647700"/>
                  <a:gd name="connsiteX27" fmla="*/ 302203 w 533759"/>
                  <a:gd name="connsiteY27" fmla="*/ 301943 h 647700"/>
                  <a:gd name="connsiteX28" fmla="*/ 327920 w 533759"/>
                  <a:gd name="connsiteY28" fmla="*/ 173355 h 647700"/>
                  <a:gd name="connsiteX29" fmla="*/ 346018 w 533759"/>
                  <a:gd name="connsiteY29" fmla="*/ 215265 h 647700"/>
                  <a:gd name="connsiteX30" fmla="*/ 368878 w 533759"/>
                  <a:gd name="connsiteY30" fmla="*/ 236220 h 647700"/>
                  <a:gd name="connsiteX31" fmla="*/ 483178 w 533759"/>
                  <a:gd name="connsiteY31" fmla="*/ 274320 h 647700"/>
                  <a:gd name="connsiteX32" fmla="*/ 495560 w 533759"/>
                  <a:gd name="connsiteY32" fmla="*/ 276225 h 647700"/>
                  <a:gd name="connsiteX33" fmla="*/ 531755 w 533759"/>
                  <a:gd name="connsiteY33" fmla="*/ 250508 h 647700"/>
                  <a:gd name="connsiteX34" fmla="*/ 507943 w 533759"/>
                  <a:gd name="connsiteY34" fmla="*/ 20193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759" h="647700">
                    <a:moveTo>
                      <a:pt x="507943" y="201930"/>
                    </a:moveTo>
                    <a:lnTo>
                      <a:pt x="409835" y="169545"/>
                    </a:lnTo>
                    <a:cubicBezTo>
                      <a:pt x="409835" y="169545"/>
                      <a:pt x="355543" y="43815"/>
                      <a:pt x="353638" y="40005"/>
                    </a:cubicBezTo>
                    <a:cubicBezTo>
                      <a:pt x="340303" y="16193"/>
                      <a:pt x="315538" y="0"/>
                      <a:pt x="286963" y="0"/>
                    </a:cubicBezTo>
                    <a:cubicBezTo>
                      <a:pt x="275533" y="0"/>
                      <a:pt x="264103" y="2857"/>
                      <a:pt x="254578" y="7620"/>
                    </a:cubicBezTo>
                    <a:lnTo>
                      <a:pt x="121228" y="60007"/>
                    </a:lnTo>
                    <a:cubicBezTo>
                      <a:pt x="111703" y="63818"/>
                      <a:pt x="104083" y="71438"/>
                      <a:pt x="100273" y="80963"/>
                    </a:cubicBezTo>
                    <a:lnTo>
                      <a:pt x="52648" y="195263"/>
                    </a:lnTo>
                    <a:cubicBezTo>
                      <a:pt x="45028" y="214313"/>
                      <a:pt x="53600" y="237173"/>
                      <a:pt x="73603" y="244793"/>
                    </a:cubicBezTo>
                    <a:cubicBezTo>
                      <a:pt x="78365" y="246698"/>
                      <a:pt x="83128" y="247650"/>
                      <a:pt x="87890" y="247650"/>
                    </a:cubicBezTo>
                    <a:cubicBezTo>
                      <a:pt x="103130" y="247650"/>
                      <a:pt x="117418" y="239077"/>
                      <a:pt x="123133" y="223838"/>
                    </a:cubicBezTo>
                    <a:lnTo>
                      <a:pt x="162185" y="124777"/>
                    </a:lnTo>
                    <a:lnTo>
                      <a:pt x="202190" y="109538"/>
                    </a:lnTo>
                    <a:lnTo>
                      <a:pt x="136468" y="430530"/>
                    </a:lnTo>
                    <a:lnTo>
                      <a:pt x="8833" y="585788"/>
                    </a:lnTo>
                    <a:cubicBezTo>
                      <a:pt x="-4502" y="601980"/>
                      <a:pt x="-2597" y="625793"/>
                      <a:pt x="13595" y="639128"/>
                    </a:cubicBezTo>
                    <a:cubicBezTo>
                      <a:pt x="20263" y="644843"/>
                      <a:pt x="28835" y="647700"/>
                      <a:pt x="37408" y="647700"/>
                    </a:cubicBezTo>
                    <a:cubicBezTo>
                      <a:pt x="48838" y="647700"/>
                      <a:pt x="59315" y="642938"/>
                      <a:pt x="66935" y="633413"/>
                    </a:cubicBezTo>
                    <a:lnTo>
                      <a:pt x="200285" y="471488"/>
                    </a:lnTo>
                    <a:cubicBezTo>
                      <a:pt x="204095" y="466725"/>
                      <a:pt x="206953" y="461010"/>
                      <a:pt x="207905" y="455295"/>
                    </a:cubicBezTo>
                    <a:lnTo>
                      <a:pt x="230765" y="344805"/>
                    </a:lnTo>
                    <a:lnTo>
                      <a:pt x="333635" y="419100"/>
                    </a:lnTo>
                    <a:lnTo>
                      <a:pt x="333635" y="609600"/>
                    </a:lnTo>
                    <a:cubicBezTo>
                      <a:pt x="333635" y="630555"/>
                      <a:pt x="350780" y="647700"/>
                      <a:pt x="371735" y="647700"/>
                    </a:cubicBezTo>
                    <a:cubicBezTo>
                      <a:pt x="392690" y="647700"/>
                      <a:pt x="409835" y="630555"/>
                      <a:pt x="409835" y="609600"/>
                    </a:cubicBezTo>
                    <a:lnTo>
                      <a:pt x="409835" y="400050"/>
                    </a:lnTo>
                    <a:cubicBezTo>
                      <a:pt x="409835" y="387668"/>
                      <a:pt x="404120" y="376238"/>
                      <a:pt x="394595" y="369570"/>
                    </a:cubicBezTo>
                    <a:lnTo>
                      <a:pt x="302203" y="301943"/>
                    </a:lnTo>
                    <a:lnTo>
                      <a:pt x="327920" y="173355"/>
                    </a:lnTo>
                    <a:lnTo>
                      <a:pt x="346018" y="215265"/>
                    </a:lnTo>
                    <a:cubicBezTo>
                      <a:pt x="350780" y="224790"/>
                      <a:pt x="358400" y="232410"/>
                      <a:pt x="368878" y="236220"/>
                    </a:cubicBezTo>
                    <a:lnTo>
                      <a:pt x="483178" y="274320"/>
                    </a:lnTo>
                    <a:cubicBezTo>
                      <a:pt x="486988" y="275273"/>
                      <a:pt x="490798" y="276225"/>
                      <a:pt x="495560" y="276225"/>
                    </a:cubicBezTo>
                    <a:cubicBezTo>
                      <a:pt x="511753" y="276225"/>
                      <a:pt x="526040" y="265748"/>
                      <a:pt x="531755" y="250508"/>
                    </a:cubicBezTo>
                    <a:cubicBezTo>
                      <a:pt x="538423" y="230505"/>
                      <a:pt x="527945" y="208598"/>
                      <a:pt x="507943" y="2019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1" name="Graphic 79" descr="Flag">
              <a:extLst>
                <a:ext uri="{FF2B5EF4-FFF2-40B4-BE49-F238E27FC236}">
                  <a16:creationId xmlns:a16="http://schemas.microsoft.com/office/drawing/2014/main" id="{93012CD6-F138-4CE2-994D-5A592985CDC9}"/>
                </a:ext>
              </a:extLst>
            </p:cNvPr>
            <p:cNvGrpSpPr/>
            <p:nvPr/>
          </p:nvGrpSpPr>
          <p:grpSpPr>
            <a:xfrm flipH="1">
              <a:off x="5476848" y="2591108"/>
              <a:ext cx="539912" cy="754317"/>
              <a:chOff x="4591206" y="2957817"/>
              <a:chExt cx="914400" cy="914400"/>
            </a:xfrm>
            <a:solidFill>
              <a:schemeClr val="accent1"/>
            </a:solidFill>
          </p:grpSpPr>
          <p:sp>
            <p:nvSpPr>
              <p:cNvPr id="20" name="Freeform: Shape 38">
                <a:extLst>
                  <a:ext uri="{FF2B5EF4-FFF2-40B4-BE49-F238E27FC236}">
                    <a16:creationId xmlns:a16="http://schemas.microsoft.com/office/drawing/2014/main" id="{5C52235F-BCE3-43CC-AC07-5CB6D4975E8C}"/>
                  </a:ext>
                </a:extLst>
              </p:cNvPr>
              <p:cNvSpPr/>
              <p:nvPr/>
            </p:nvSpPr>
            <p:spPr>
              <a:xfrm>
                <a:off x="4781706" y="3034969"/>
                <a:ext cx="57150" cy="761999"/>
              </a:xfrm>
              <a:custGeom>
                <a:avLst/>
                <a:gdLst>
                  <a:gd name="connsiteX0" fmla="*/ 28575 w 57150"/>
                  <a:gd name="connsiteY0" fmla="*/ 0 h 761999"/>
                  <a:gd name="connsiteX1" fmla="*/ 0 w 57150"/>
                  <a:gd name="connsiteY1" fmla="*/ 28575 h 761999"/>
                  <a:gd name="connsiteX2" fmla="*/ 0 w 57150"/>
                  <a:gd name="connsiteY2" fmla="*/ 762000 h 761999"/>
                  <a:gd name="connsiteX3" fmla="*/ 57150 w 57150"/>
                  <a:gd name="connsiteY3" fmla="*/ 762000 h 761999"/>
                  <a:gd name="connsiteX4" fmla="*/ 57150 w 57150"/>
                  <a:gd name="connsiteY4" fmla="*/ 28575 h 761999"/>
                  <a:gd name="connsiteX5" fmla="*/ 28575 w 57150"/>
                  <a:gd name="connsiteY5" fmla="*/ 0 h 76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50" h="761999">
                    <a:moveTo>
                      <a:pt x="28575" y="0"/>
                    </a:moveTo>
                    <a:cubicBezTo>
                      <a:pt x="12382" y="0"/>
                      <a:pt x="0" y="12382"/>
                      <a:pt x="0" y="28575"/>
                    </a:cubicBezTo>
                    <a:lnTo>
                      <a:pt x="0" y="762000"/>
                    </a:lnTo>
                    <a:lnTo>
                      <a:pt x="57150" y="762000"/>
                    </a:lnTo>
                    <a:lnTo>
                      <a:pt x="57150" y="28575"/>
                    </a:lnTo>
                    <a:cubicBezTo>
                      <a:pt x="57150" y="12382"/>
                      <a:pt x="44768" y="0"/>
                      <a:pt x="285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39">
                <a:extLst>
                  <a:ext uri="{FF2B5EF4-FFF2-40B4-BE49-F238E27FC236}">
                    <a16:creationId xmlns:a16="http://schemas.microsoft.com/office/drawing/2014/main" id="{17BACF08-DC75-4FF3-B907-90EA2B0AB587}"/>
                  </a:ext>
                </a:extLst>
              </p:cNvPr>
              <p:cNvSpPr/>
              <p:nvPr/>
            </p:nvSpPr>
            <p:spPr>
              <a:xfrm>
                <a:off x="4876956" y="3033064"/>
                <a:ext cx="438150" cy="342900"/>
              </a:xfrm>
              <a:custGeom>
                <a:avLst/>
                <a:gdLst>
                  <a:gd name="connsiteX0" fmla="*/ 120968 w 438150"/>
                  <a:gd name="connsiteY0" fmla="*/ 0 h 342900"/>
                  <a:gd name="connsiteX1" fmla="*/ 0 w 438150"/>
                  <a:gd name="connsiteY1" fmla="*/ 27623 h 342900"/>
                  <a:gd name="connsiteX2" fmla="*/ 0 w 438150"/>
                  <a:gd name="connsiteY2" fmla="*/ 342900 h 342900"/>
                  <a:gd name="connsiteX3" fmla="*/ 120968 w 438150"/>
                  <a:gd name="connsiteY3" fmla="*/ 315278 h 342900"/>
                  <a:gd name="connsiteX4" fmla="*/ 438150 w 438150"/>
                  <a:gd name="connsiteY4" fmla="*/ 317183 h 342900"/>
                  <a:gd name="connsiteX5" fmla="*/ 438150 w 438150"/>
                  <a:gd name="connsiteY5" fmla="*/ 1905 h 342900"/>
                  <a:gd name="connsiteX6" fmla="*/ 120968 w 438150"/>
                  <a:gd name="connsiteY6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150" h="342900">
                    <a:moveTo>
                      <a:pt x="120968" y="0"/>
                    </a:moveTo>
                    <a:cubicBezTo>
                      <a:pt x="37148" y="0"/>
                      <a:pt x="0" y="27623"/>
                      <a:pt x="0" y="27623"/>
                    </a:cubicBezTo>
                    <a:lnTo>
                      <a:pt x="0" y="342900"/>
                    </a:lnTo>
                    <a:cubicBezTo>
                      <a:pt x="0" y="342900"/>
                      <a:pt x="36195" y="315278"/>
                      <a:pt x="120968" y="315278"/>
                    </a:cubicBezTo>
                    <a:cubicBezTo>
                      <a:pt x="221933" y="315278"/>
                      <a:pt x="320993" y="370523"/>
                      <a:pt x="438150" y="317183"/>
                    </a:cubicBezTo>
                    <a:lnTo>
                      <a:pt x="438150" y="1905"/>
                    </a:lnTo>
                    <a:cubicBezTo>
                      <a:pt x="290513" y="45720"/>
                      <a:pt x="221933" y="0"/>
                      <a:pt x="1209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2" name="Graphic 75" descr="Run">
              <a:extLst>
                <a:ext uri="{FF2B5EF4-FFF2-40B4-BE49-F238E27FC236}">
                  <a16:creationId xmlns:a16="http://schemas.microsoft.com/office/drawing/2014/main" id="{79C5864E-0097-495D-94F2-EB9ACE4BB85B}"/>
                </a:ext>
              </a:extLst>
            </p:cNvPr>
            <p:cNvGrpSpPr/>
            <p:nvPr/>
          </p:nvGrpSpPr>
          <p:grpSpPr>
            <a:xfrm>
              <a:off x="6313575" y="2607607"/>
              <a:ext cx="424727" cy="675743"/>
              <a:chOff x="6002653" y="3010743"/>
              <a:chExt cx="719322" cy="819150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5552691-AE5C-4CCD-88AC-BD46B5D3E3BC}"/>
                  </a:ext>
                </a:extLst>
              </p:cNvPr>
              <p:cNvSpPr/>
              <p:nvPr/>
            </p:nvSpPr>
            <p:spPr>
              <a:xfrm>
                <a:off x="6440804" y="3010743"/>
                <a:ext cx="152400" cy="152400"/>
              </a:xfrm>
              <a:custGeom>
                <a:avLst/>
                <a:gdLst>
                  <a:gd name="connsiteX0" fmla="*/ 152400 w 152400"/>
                  <a:gd name="connsiteY0" fmla="*/ 76200 h 152400"/>
                  <a:gd name="connsiteX1" fmla="*/ 76200 w 152400"/>
                  <a:gd name="connsiteY1" fmla="*/ 152400 h 152400"/>
                  <a:gd name="connsiteX2" fmla="*/ 0 w 152400"/>
                  <a:gd name="connsiteY2" fmla="*/ 76200 h 152400"/>
                  <a:gd name="connsiteX3" fmla="*/ 76200 w 152400"/>
                  <a:gd name="connsiteY3" fmla="*/ 0 h 152400"/>
                  <a:gd name="connsiteX4" fmla="*/ 152400 w 152400"/>
                  <a:gd name="connsiteY4" fmla="*/ 762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152400">
                    <a:moveTo>
                      <a:pt x="152400" y="76200"/>
                    </a:move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F1FD4E9-54CA-4193-83EC-FA93C1B0F362}"/>
                  </a:ext>
                </a:extLst>
              </p:cNvPr>
              <p:cNvSpPr/>
              <p:nvPr/>
            </p:nvSpPr>
            <p:spPr>
              <a:xfrm>
                <a:off x="6002653" y="3172668"/>
                <a:ext cx="719322" cy="657225"/>
              </a:xfrm>
              <a:custGeom>
                <a:avLst/>
                <a:gdLst>
                  <a:gd name="connsiteX0" fmla="*/ 699135 w 719322"/>
                  <a:gd name="connsiteY0" fmla="*/ 19050 h 657225"/>
                  <a:gd name="connsiteX1" fmla="*/ 647700 w 719322"/>
                  <a:gd name="connsiteY1" fmla="*/ 35243 h 657225"/>
                  <a:gd name="connsiteX2" fmla="*/ 614363 w 719322"/>
                  <a:gd name="connsiteY2" fmla="*/ 98107 h 657225"/>
                  <a:gd name="connsiteX3" fmla="*/ 467678 w 719322"/>
                  <a:gd name="connsiteY3" fmla="*/ 5715 h 657225"/>
                  <a:gd name="connsiteX4" fmla="*/ 447675 w 719322"/>
                  <a:gd name="connsiteY4" fmla="*/ 0 h 657225"/>
                  <a:gd name="connsiteX5" fmla="*/ 285750 w 719322"/>
                  <a:gd name="connsiteY5" fmla="*/ 0 h 657225"/>
                  <a:gd name="connsiteX6" fmla="*/ 252413 w 719322"/>
                  <a:gd name="connsiteY6" fmla="*/ 20003 h 657225"/>
                  <a:gd name="connsiteX7" fmla="*/ 190500 w 719322"/>
                  <a:gd name="connsiteY7" fmla="*/ 134302 h 657225"/>
                  <a:gd name="connsiteX8" fmla="*/ 205740 w 719322"/>
                  <a:gd name="connsiteY8" fmla="*/ 185738 h 657225"/>
                  <a:gd name="connsiteX9" fmla="*/ 223838 w 719322"/>
                  <a:gd name="connsiteY9" fmla="*/ 190500 h 657225"/>
                  <a:gd name="connsiteX10" fmla="*/ 257175 w 719322"/>
                  <a:gd name="connsiteY10" fmla="*/ 170498 h 657225"/>
                  <a:gd name="connsiteX11" fmla="*/ 308610 w 719322"/>
                  <a:gd name="connsiteY11" fmla="*/ 76200 h 657225"/>
                  <a:gd name="connsiteX12" fmla="*/ 364808 w 719322"/>
                  <a:gd name="connsiteY12" fmla="*/ 76200 h 657225"/>
                  <a:gd name="connsiteX13" fmla="*/ 196215 w 719322"/>
                  <a:gd name="connsiteY13" fmla="*/ 390525 h 657225"/>
                  <a:gd name="connsiteX14" fmla="*/ 38100 w 719322"/>
                  <a:gd name="connsiteY14" fmla="*/ 390525 h 657225"/>
                  <a:gd name="connsiteX15" fmla="*/ 0 w 719322"/>
                  <a:gd name="connsiteY15" fmla="*/ 428625 h 657225"/>
                  <a:gd name="connsiteX16" fmla="*/ 38100 w 719322"/>
                  <a:gd name="connsiteY16" fmla="*/ 466725 h 657225"/>
                  <a:gd name="connsiteX17" fmla="*/ 219075 w 719322"/>
                  <a:gd name="connsiteY17" fmla="*/ 466725 h 657225"/>
                  <a:gd name="connsiteX18" fmla="*/ 252413 w 719322"/>
                  <a:gd name="connsiteY18" fmla="*/ 446723 h 657225"/>
                  <a:gd name="connsiteX19" fmla="*/ 319088 w 719322"/>
                  <a:gd name="connsiteY19" fmla="*/ 323850 h 657225"/>
                  <a:gd name="connsiteX20" fmla="*/ 428625 w 719322"/>
                  <a:gd name="connsiteY20" fmla="*/ 425767 h 657225"/>
                  <a:gd name="connsiteX21" fmla="*/ 420053 w 719322"/>
                  <a:gd name="connsiteY21" fmla="*/ 617220 h 657225"/>
                  <a:gd name="connsiteX22" fmla="*/ 455295 w 719322"/>
                  <a:gd name="connsiteY22" fmla="*/ 657225 h 657225"/>
                  <a:gd name="connsiteX23" fmla="*/ 457200 w 719322"/>
                  <a:gd name="connsiteY23" fmla="*/ 657225 h 657225"/>
                  <a:gd name="connsiteX24" fmla="*/ 495300 w 719322"/>
                  <a:gd name="connsiteY24" fmla="*/ 621030 h 657225"/>
                  <a:gd name="connsiteX25" fmla="*/ 504825 w 719322"/>
                  <a:gd name="connsiteY25" fmla="*/ 411480 h 657225"/>
                  <a:gd name="connsiteX26" fmla="*/ 492443 w 719322"/>
                  <a:gd name="connsiteY26" fmla="*/ 381953 h 657225"/>
                  <a:gd name="connsiteX27" fmla="*/ 400050 w 719322"/>
                  <a:gd name="connsiteY27" fmla="*/ 296228 h 657225"/>
                  <a:gd name="connsiteX28" fmla="*/ 497205 w 719322"/>
                  <a:gd name="connsiteY28" fmla="*/ 115252 h 657225"/>
                  <a:gd name="connsiteX29" fmla="*/ 607695 w 719322"/>
                  <a:gd name="connsiteY29" fmla="*/ 184785 h 657225"/>
                  <a:gd name="connsiteX30" fmla="*/ 638175 w 719322"/>
                  <a:gd name="connsiteY30" fmla="*/ 189548 h 657225"/>
                  <a:gd name="connsiteX31" fmla="*/ 661988 w 719322"/>
                  <a:gd name="connsiteY31" fmla="*/ 170498 h 657225"/>
                  <a:gd name="connsiteX32" fmla="*/ 714375 w 719322"/>
                  <a:gd name="connsiteY32" fmla="*/ 70485 h 657225"/>
                  <a:gd name="connsiteX33" fmla="*/ 699135 w 719322"/>
                  <a:gd name="connsiteY33" fmla="*/ 19050 h 65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19322" h="657225">
                    <a:moveTo>
                      <a:pt x="699135" y="19050"/>
                    </a:moveTo>
                    <a:cubicBezTo>
                      <a:pt x="680085" y="9525"/>
                      <a:pt x="657225" y="16193"/>
                      <a:pt x="647700" y="35243"/>
                    </a:cubicBezTo>
                    <a:lnTo>
                      <a:pt x="614363" y="98107"/>
                    </a:lnTo>
                    <a:lnTo>
                      <a:pt x="467678" y="5715"/>
                    </a:lnTo>
                    <a:cubicBezTo>
                      <a:pt x="461963" y="1905"/>
                      <a:pt x="455295" y="0"/>
                      <a:pt x="447675" y="0"/>
                    </a:cubicBezTo>
                    <a:lnTo>
                      <a:pt x="285750" y="0"/>
                    </a:lnTo>
                    <a:cubicBezTo>
                      <a:pt x="271463" y="0"/>
                      <a:pt x="259080" y="7620"/>
                      <a:pt x="252413" y="20003"/>
                    </a:cubicBezTo>
                    <a:lnTo>
                      <a:pt x="190500" y="134302"/>
                    </a:lnTo>
                    <a:cubicBezTo>
                      <a:pt x="180023" y="152400"/>
                      <a:pt x="187643" y="176213"/>
                      <a:pt x="205740" y="185738"/>
                    </a:cubicBezTo>
                    <a:cubicBezTo>
                      <a:pt x="211455" y="188595"/>
                      <a:pt x="218122" y="190500"/>
                      <a:pt x="223838" y="190500"/>
                    </a:cubicBezTo>
                    <a:cubicBezTo>
                      <a:pt x="237172" y="190500"/>
                      <a:pt x="250508" y="182880"/>
                      <a:pt x="257175" y="170498"/>
                    </a:cubicBezTo>
                    <a:lnTo>
                      <a:pt x="308610" y="76200"/>
                    </a:lnTo>
                    <a:lnTo>
                      <a:pt x="364808" y="76200"/>
                    </a:lnTo>
                    <a:lnTo>
                      <a:pt x="196215" y="390525"/>
                    </a:lnTo>
                    <a:lnTo>
                      <a:pt x="38100" y="390525"/>
                    </a:lnTo>
                    <a:cubicBezTo>
                      <a:pt x="17145" y="390525"/>
                      <a:pt x="0" y="407670"/>
                      <a:pt x="0" y="428625"/>
                    </a:cubicBezTo>
                    <a:cubicBezTo>
                      <a:pt x="0" y="449580"/>
                      <a:pt x="17145" y="466725"/>
                      <a:pt x="38100" y="466725"/>
                    </a:cubicBezTo>
                    <a:lnTo>
                      <a:pt x="219075" y="466725"/>
                    </a:lnTo>
                    <a:cubicBezTo>
                      <a:pt x="233363" y="466725"/>
                      <a:pt x="245745" y="459105"/>
                      <a:pt x="252413" y="446723"/>
                    </a:cubicBezTo>
                    <a:lnTo>
                      <a:pt x="319088" y="323850"/>
                    </a:lnTo>
                    <a:lnTo>
                      <a:pt x="428625" y="425767"/>
                    </a:lnTo>
                    <a:lnTo>
                      <a:pt x="420053" y="617220"/>
                    </a:lnTo>
                    <a:cubicBezTo>
                      <a:pt x="418148" y="638175"/>
                      <a:pt x="434340" y="656273"/>
                      <a:pt x="455295" y="657225"/>
                    </a:cubicBezTo>
                    <a:cubicBezTo>
                      <a:pt x="456248" y="657225"/>
                      <a:pt x="456248" y="657225"/>
                      <a:pt x="457200" y="657225"/>
                    </a:cubicBezTo>
                    <a:cubicBezTo>
                      <a:pt x="477203" y="657225"/>
                      <a:pt x="494348" y="641033"/>
                      <a:pt x="495300" y="621030"/>
                    </a:cubicBezTo>
                    <a:lnTo>
                      <a:pt x="504825" y="411480"/>
                    </a:lnTo>
                    <a:cubicBezTo>
                      <a:pt x="505778" y="400050"/>
                      <a:pt x="501015" y="389573"/>
                      <a:pt x="492443" y="381953"/>
                    </a:cubicBezTo>
                    <a:lnTo>
                      <a:pt x="400050" y="296228"/>
                    </a:lnTo>
                    <a:lnTo>
                      <a:pt x="497205" y="115252"/>
                    </a:lnTo>
                    <a:lnTo>
                      <a:pt x="607695" y="184785"/>
                    </a:lnTo>
                    <a:cubicBezTo>
                      <a:pt x="616268" y="190500"/>
                      <a:pt x="627698" y="192405"/>
                      <a:pt x="638175" y="189548"/>
                    </a:cubicBezTo>
                    <a:cubicBezTo>
                      <a:pt x="648653" y="186690"/>
                      <a:pt x="657225" y="180023"/>
                      <a:pt x="661988" y="170498"/>
                    </a:cubicBezTo>
                    <a:lnTo>
                      <a:pt x="714375" y="70485"/>
                    </a:lnTo>
                    <a:cubicBezTo>
                      <a:pt x="724853" y="52388"/>
                      <a:pt x="718185" y="29528"/>
                      <a:pt x="69913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3" name="Graphic 81" descr="Flag">
              <a:extLst>
                <a:ext uri="{FF2B5EF4-FFF2-40B4-BE49-F238E27FC236}">
                  <a16:creationId xmlns:a16="http://schemas.microsoft.com/office/drawing/2014/main" id="{29871617-D6E4-4310-AC88-6CA13B42C42D}"/>
                </a:ext>
              </a:extLst>
            </p:cNvPr>
            <p:cNvGrpSpPr/>
            <p:nvPr/>
          </p:nvGrpSpPr>
          <p:grpSpPr>
            <a:xfrm flipH="1">
              <a:off x="10137116" y="1200340"/>
              <a:ext cx="314948" cy="630168"/>
              <a:chOff x="8972086" y="2121166"/>
              <a:chExt cx="533400" cy="763904"/>
            </a:xfrm>
            <a:solidFill>
              <a:schemeClr val="accent1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5465688-E857-49F1-9AE6-E3E333B2BC3E}"/>
                  </a:ext>
                </a:extLst>
              </p:cNvPr>
              <p:cNvSpPr/>
              <p:nvPr/>
            </p:nvSpPr>
            <p:spPr>
              <a:xfrm>
                <a:off x="8972086" y="2123071"/>
                <a:ext cx="57150" cy="761999"/>
              </a:xfrm>
              <a:custGeom>
                <a:avLst/>
                <a:gdLst>
                  <a:gd name="connsiteX0" fmla="*/ 28575 w 57150"/>
                  <a:gd name="connsiteY0" fmla="*/ 0 h 761999"/>
                  <a:gd name="connsiteX1" fmla="*/ 0 w 57150"/>
                  <a:gd name="connsiteY1" fmla="*/ 28575 h 761999"/>
                  <a:gd name="connsiteX2" fmla="*/ 0 w 57150"/>
                  <a:gd name="connsiteY2" fmla="*/ 762000 h 761999"/>
                  <a:gd name="connsiteX3" fmla="*/ 57150 w 57150"/>
                  <a:gd name="connsiteY3" fmla="*/ 762000 h 761999"/>
                  <a:gd name="connsiteX4" fmla="*/ 57150 w 57150"/>
                  <a:gd name="connsiteY4" fmla="*/ 28575 h 761999"/>
                  <a:gd name="connsiteX5" fmla="*/ 28575 w 57150"/>
                  <a:gd name="connsiteY5" fmla="*/ 0 h 76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50" h="761999">
                    <a:moveTo>
                      <a:pt x="28575" y="0"/>
                    </a:moveTo>
                    <a:cubicBezTo>
                      <a:pt x="12382" y="0"/>
                      <a:pt x="0" y="12382"/>
                      <a:pt x="0" y="28575"/>
                    </a:cubicBezTo>
                    <a:lnTo>
                      <a:pt x="0" y="762000"/>
                    </a:lnTo>
                    <a:lnTo>
                      <a:pt x="57150" y="762000"/>
                    </a:lnTo>
                    <a:lnTo>
                      <a:pt x="57150" y="28575"/>
                    </a:lnTo>
                    <a:cubicBezTo>
                      <a:pt x="57150" y="12382"/>
                      <a:pt x="44768" y="0"/>
                      <a:pt x="2857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6F3C61-F358-4654-A2D1-0B60AE582E58}"/>
                  </a:ext>
                </a:extLst>
              </p:cNvPr>
              <p:cNvSpPr/>
              <p:nvPr/>
            </p:nvSpPr>
            <p:spPr>
              <a:xfrm>
                <a:off x="9067336" y="2121166"/>
                <a:ext cx="438150" cy="342900"/>
              </a:xfrm>
              <a:custGeom>
                <a:avLst/>
                <a:gdLst>
                  <a:gd name="connsiteX0" fmla="*/ 120968 w 438150"/>
                  <a:gd name="connsiteY0" fmla="*/ 0 h 342900"/>
                  <a:gd name="connsiteX1" fmla="*/ 0 w 438150"/>
                  <a:gd name="connsiteY1" fmla="*/ 27623 h 342900"/>
                  <a:gd name="connsiteX2" fmla="*/ 0 w 438150"/>
                  <a:gd name="connsiteY2" fmla="*/ 342900 h 342900"/>
                  <a:gd name="connsiteX3" fmla="*/ 120968 w 438150"/>
                  <a:gd name="connsiteY3" fmla="*/ 315278 h 342900"/>
                  <a:gd name="connsiteX4" fmla="*/ 438150 w 438150"/>
                  <a:gd name="connsiteY4" fmla="*/ 317183 h 342900"/>
                  <a:gd name="connsiteX5" fmla="*/ 438150 w 438150"/>
                  <a:gd name="connsiteY5" fmla="*/ 1905 h 342900"/>
                  <a:gd name="connsiteX6" fmla="*/ 120968 w 438150"/>
                  <a:gd name="connsiteY6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150" h="342900">
                    <a:moveTo>
                      <a:pt x="120968" y="0"/>
                    </a:moveTo>
                    <a:cubicBezTo>
                      <a:pt x="37148" y="0"/>
                      <a:pt x="0" y="27623"/>
                      <a:pt x="0" y="27623"/>
                    </a:cubicBezTo>
                    <a:lnTo>
                      <a:pt x="0" y="342900"/>
                    </a:lnTo>
                    <a:cubicBezTo>
                      <a:pt x="0" y="342900"/>
                      <a:pt x="36195" y="315278"/>
                      <a:pt x="120968" y="315278"/>
                    </a:cubicBezTo>
                    <a:cubicBezTo>
                      <a:pt x="221933" y="315278"/>
                      <a:pt x="320993" y="370523"/>
                      <a:pt x="438150" y="317183"/>
                    </a:cubicBezTo>
                    <a:lnTo>
                      <a:pt x="438150" y="1905"/>
                    </a:lnTo>
                    <a:cubicBezTo>
                      <a:pt x="290513" y="45720"/>
                      <a:pt x="221933" y="0"/>
                      <a:pt x="12096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grpSp>
          <p:nvGrpSpPr>
            <p:cNvPr id="44" name="Graphic 73" descr="Confused person">
              <a:extLst>
                <a:ext uri="{FF2B5EF4-FFF2-40B4-BE49-F238E27FC236}">
                  <a16:creationId xmlns:a16="http://schemas.microsoft.com/office/drawing/2014/main" id="{E9F1119B-4EEC-4C64-8A42-04447166248D}"/>
                </a:ext>
              </a:extLst>
            </p:cNvPr>
            <p:cNvGrpSpPr/>
            <p:nvPr/>
          </p:nvGrpSpPr>
          <p:grpSpPr>
            <a:xfrm>
              <a:off x="10913701" y="1162626"/>
              <a:ext cx="351054" cy="667883"/>
              <a:chOff x="10582964" y="2075445"/>
              <a:chExt cx="629524" cy="857249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E633095-5326-4995-8CF5-EB613F931251}"/>
                  </a:ext>
                </a:extLst>
              </p:cNvPr>
              <p:cNvSpPr/>
              <p:nvPr/>
            </p:nvSpPr>
            <p:spPr>
              <a:xfrm>
                <a:off x="10582964" y="2246894"/>
                <a:ext cx="629524" cy="685800"/>
              </a:xfrm>
              <a:custGeom>
                <a:avLst/>
                <a:gdLst>
                  <a:gd name="connsiteX0" fmla="*/ 629005 w 629524"/>
                  <a:gd name="connsiteY0" fmla="*/ 165164 h 685800"/>
                  <a:gd name="connsiteX1" fmla="*/ 585190 w 629524"/>
                  <a:gd name="connsiteY1" fmla="*/ 133826 h 685800"/>
                  <a:gd name="connsiteX2" fmla="*/ 501846 w 629524"/>
                  <a:gd name="connsiteY2" fmla="*/ 147733 h 685800"/>
                  <a:gd name="connsiteX3" fmla="*/ 467080 w 629524"/>
                  <a:gd name="connsiteY3" fmla="*/ 54578 h 685800"/>
                  <a:gd name="connsiteX4" fmla="*/ 314680 w 629524"/>
                  <a:gd name="connsiteY4" fmla="*/ 0 h 685800"/>
                  <a:gd name="connsiteX5" fmla="*/ 163137 w 629524"/>
                  <a:gd name="connsiteY5" fmla="*/ 54578 h 685800"/>
                  <a:gd name="connsiteX6" fmla="*/ 128085 w 629524"/>
                  <a:gd name="connsiteY6" fmla="*/ 147733 h 685800"/>
                  <a:gd name="connsiteX7" fmla="*/ 44742 w 629524"/>
                  <a:gd name="connsiteY7" fmla="*/ 133826 h 685800"/>
                  <a:gd name="connsiteX8" fmla="*/ 589 w 629524"/>
                  <a:gd name="connsiteY8" fmla="*/ 164709 h 685800"/>
                  <a:gd name="connsiteX9" fmla="*/ 31472 w 629524"/>
                  <a:gd name="connsiteY9" fmla="*/ 208862 h 685800"/>
                  <a:gd name="connsiteX10" fmla="*/ 32169 w 629524"/>
                  <a:gd name="connsiteY10" fmla="*/ 208978 h 685800"/>
                  <a:gd name="connsiteX11" fmla="*/ 146469 w 629524"/>
                  <a:gd name="connsiteY11" fmla="*/ 228028 h 685800"/>
                  <a:gd name="connsiteX12" fmla="*/ 152755 w 629524"/>
                  <a:gd name="connsiteY12" fmla="*/ 228600 h 685800"/>
                  <a:gd name="connsiteX13" fmla="*/ 188474 w 629524"/>
                  <a:gd name="connsiteY13" fmla="*/ 203835 h 685800"/>
                  <a:gd name="connsiteX14" fmla="*/ 211905 w 629524"/>
                  <a:gd name="connsiteY14" fmla="*/ 141065 h 685800"/>
                  <a:gd name="connsiteX15" fmla="*/ 219430 w 629524"/>
                  <a:gd name="connsiteY15" fmla="*/ 144399 h 685800"/>
                  <a:gd name="connsiteX16" fmla="*/ 219430 w 629524"/>
                  <a:gd name="connsiteY16" fmla="*/ 685800 h 685800"/>
                  <a:gd name="connsiteX17" fmla="*/ 295630 w 629524"/>
                  <a:gd name="connsiteY17" fmla="*/ 685800 h 685800"/>
                  <a:gd name="connsiteX18" fmla="*/ 295630 w 629524"/>
                  <a:gd name="connsiteY18" fmla="*/ 342900 h 685800"/>
                  <a:gd name="connsiteX19" fmla="*/ 333730 w 629524"/>
                  <a:gd name="connsiteY19" fmla="*/ 342900 h 685800"/>
                  <a:gd name="connsiteX20" fmla="*/ 333730 w 629524"/>
                  <a:gd name="connsiteY20" fmla="*/ 685800 h 685800"/>
                  <a:gd name="connsiteX21" fmla="*/ 409930 w 629524"/>
                  <a:gd name="connsiteY21" fmla="*/ 685800 h 685800"/>
                  <a:gd name="connsiteX22" fmla="*/ 409930 w 629524"/>
                  <a:gd name="connsiteY22" fmla="*/ 144494 h 685800"/>
                  <a:gd name="connsiteX23" fmla="*/ 417931 w 629524"/>
                  <a:gd name="connsiteY23" fmla="*/ 140970 h 685800"/>
                  <a:gd name="connsiteX24" fmla="*/ 441458 w 629524"/>
                  <a:gd name="connsiteY24" fmla="*/ 203835 h 685800"/>
                  <a:gd name="connsiteX25" fmla="*/ 477081 w 629524"/>
                  <a:gd name="connsiteY25" fmla="*/ 228600 h 685800"/>
                  <a:gd name="connsiteX26" fmla="*/ 483368 w 629524"/>
                  <a:gd name="connsiteY26" fmla="*/ 228028 h 685800"/>
                  <a:gd name="connsiteX27" fmla="*/ 597668 w 629524"/>
                  <a:gd name="connsiteY27" fmla="*/ 208978 h 685800"/>
                  <a:gd name="connsiteX28" fmla="*/ 629005 w 629524"/>
                  <a:gd name="connsiteY28" fmla="*/ 165164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29524" h="685800">
                    <a:moveTo>
                      <a:pt x="629005" y="165164"/>
                    </a:moveTo>
                    <a:cubicBezTo>
                      <a:pt x="625554" y="144414"/>
                      <a:pt x="605941" y="130386"/>
                      <a:pt x="585190" y="133826"/>
                    </a:cubicBezTo>
                    <a:lnTo>
                      <a:pt x="501846" y="147733"/>
                    </a:lnTo>
                    <a:cubicBezTo>
                      <a:pt x="501846" y="147733"/>
                      <a:pt x="467080" y="55435"/>
                      <a:pt x="467080" y="54578"/>
                    </a:cubicBezTo>
                    <a:cubicBezTo>
                      <a:pt x="449364" y="0"/>
                      <a:pt x="373354" y="0"/>
                      <a:pt x="314680" y="0"/>
                    </a:cubicBezTo>
                    <a:cubicBezTo>
                      <a:pt x="256006" y="0"/>
                      <a:pt x="180473" y="0"/>
                      <a:pt x="163137" y="54578"/>
                    </a:cubicBezTo>
                    <a:cubicBezTo>
                      <a:pt x="163137" y="55435"/>
                      <a:pt x="128085" y="147733"/>
                      <a:pt x="128085" y="147733"/>
                    </a:cubicBezTo>
                    <a:lnTo>
                      <a:pt x="44742" y="133826"/>
                    </a:lnTo>
                    <a:cubicBezTo>
                      <a:pt x="24021" y="130162"/>
                      <a:pt x="4254" y="143988"/>
                      <a:pt x="589" y="164709"/>
                    </a:cubicBezTo>
                    <a:cubicBezTo>
                      <a:pt x="-3076" y="185430"/>
                      <a:pt x="10752" y="205198"/>
                      <a:pt x="31472" y="208862"/>
                    </a:cubicBezTo>
                    <a:cubicBezTo>
                      <a:pt x="31704" y="208903"/>
                      <a:pt x="31936" y="208941"/>
                      <a:pt x="32169" y="208978"/>
                    </a:cubicBezTo>
                    <a:lnTo>
                      <a:pt x="146469" y="228028"/>
                    </a:lnTo>
                    <a:cubicBezTo>
                      <a:pt x="148542" y="228408"/>
                      <a:pt x="150646" y="228599"/>
                      <a:pt x="152755" y="228600"/>
                    </a:cubicBezTo>
                    <a:cubicBezTo>
                      <a:pt x="168664" y="228612"/>
                      <a:pt x="182906" y="218738"/>
                      <a:pt x="188474" y="203835"/>
                    </a:cubicBezTo>
                    <a:lnTo>
                      <a:pt x="211905" y="141065"/>
                    </a:lnTo>
                    <a:lnTo>
                      <a:pt x="219430" y="144399"/>
                    </a:lnTo>
                    <a:lnTo>
                      <a:pt x="219430" y="685800"/>
                    </a:lnTo>
                    <a:lnTo>
                      <a:pt x="295630" y="685800"/>
                    </a:lnTo>
                    <a:lnTo>
                      <a:pt x="295630" y="342900"/>
                    </a:lnTo>
                    <a:lnTo>
                      <a:pt x="333730" y="342900"/>
                    </a:lnTo>
                    <a:lnTo>
                      <a:pt x="333730" y="685800"/>
                    </a:lnTo>
                    <a:lnTo>
                      <a:pt x="409930" y="685800"/>
                    </a:lnTo>
                    <a:lnTo>
                      <a:pt x="409930" y="144494"/>
                    </a:lnTo>
                    <a:cubicBezTo>
                      <a:pt x="412692" y="143351"/>
                      <a:pt x="415359" y="142208"/>
                      <a:pt x="417931" y="140970"/>
                    </a:cubicBezTo>
                    <a:lnTo>
                      <a:pt x="441458" y="203835"/>
                    </a:lnTo>
                    <a:cubicBezTo>
                      <a:pt x="447014" y="218705"/>
                      <a:pt x="461207" y="228572"/>
                      <a:pt x="477081" y="228600"/>
                    </a:cubicBezTo>
                    <a:cubicBezTo>
                      <a:pt x="479190" y="228599"/>
                      <a:pt x="481294" y="228408"/>
                      <a:pt x="483368" y="228028"/>
                    </a:cubicBezTo>
                    <a:lnTo>
                      <a:pt x="597668" y="208978"/>
                    </a:lnTo>
                    <a:cubicBezTo>
                      <a:pt x="618418" y="205528"/>
                      <a:pt x="632446" y="185915"/>
                      <a:pt x="629005" y="1651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56FD659-F321-42ED-BE4B-22EAE66D292A}"/>
                  </a:ext>
                </a:extLst>
              </p:cNvPr>
              <p:cNvSpPr/>
              <p:nvPr/>
            </p:nvSpPr>
            <p:spPr>
              <a:xfrm>
                <a:off x="10821444" y="2075445"/>
                <a:ext cx="152400" cy="152400"/>
              </a:xfrm>
              <a:custGeom>
                <a:avLst/>
                <a:gdLst>
                  <a:gd name="connsiteX0" fmla="*/ 152400 w 152400"/>
                  <a:gd name="connsiteY0" fmla="*/ 76200 h 152400"/>
                  <a:gd name="connsiteX1" fmla="*/ 76200 w 152400"/>
                  <a:gd name="connsiteY1" fmla="*/ 152400 h 152400"/>
                  <a:gd name="connsiteX2" fmla="*/ 0 w 152400"/>
                  <a:gd name="connsiteY2" fmla="*/ 76200 h 152400"/>
                  <a:gd name="connsiteX3" fmla="*/ 76200 w 152400"/>
                  <a:gd name="connsiteY3" fmla="*/ 0 h 152400"/>
                  <a:gd name="connsiteX4" fmla="*/ 152400 w 152400"/>
                  <a:gd name="connsiteY4" fmla="*/ 762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152400">
                    <a:moveTo>
                      <a:pt x="152400" y="76200"/>
                    </a:moveTo>
                    <a:cubicBezTo>
                      <a:pt x="152400" y="118284"/>
                      <a:pt x="118284" y="152400"/>
                      <a:pt x="76200" y="152400"/>
                    </a:cubicBezTo>
                    <a:cubicBezTo>
                      <a:pt x="34116" y="152400"/>
                      <a:pt x="0" y="118284"/>
                      <a:pt x="0" y="76200"/>
                    </a:cubicBez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45" name="Proposal Team Shape"/>
          <p:cNvSpPr/>
          <p:nvPr/>
        </p:nvSpPr>
        <p:spPr>
          <a:xfrm>
            <a:off x="457200" y="4800600"/>
            <a:ext cx="3611880" cy="1371600"/>
          </a:xfrm>
          <a:prstGeom prst="roundRect">
            <a:avLst>
              <a:gd name="adj" fmla="val 3703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t">
            <a:noAutofit/>
          </a:bodyPr>
          <a:lstStyle/>
          <a:p>
            <a:pPr algn="l"/>
            <a:r>
              <a:rPr sz="1500" b="1">
                <a:solidFill>
                  <a:srgbClr val="024157"/>
                </a:solidFill>
                <a:latin typeface="Figtree"/>
              </a:rPr>
              <a:t>Team Shape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A30"/>
                </a:solidFill>
                <a:latin typeface="Figtree"/>
              </a:rPr>
              <a:t>A regulatory lead works with human specialists and bounded regulatory agents</a:t>
            </a:r>
          </a:p>
        </p:txBody>
      </p:sp>
      <p:sp>
        <p:nvSpPr>
          <p:cNvPr id="46" name="Proposal Agent Boundary"/>
          <p:cNvSpPr/>
          <p:nvPr/>
        </p:nvSpPr>
        <p:spPr>
          <a:xfrm>
            <a:off x="4288536" y="4800600"/>
            <a:ext cx="3611880" cy="1371600"/>
          </a:xfrm>
          <a:prstGeom prst="roundRect">
            <a:avLst>
              <a:gd name="adj" fmla="val 3703"/>
            </a:avLst>
          </a:prstGeom>
          <a:solidFill>
            <a:srgbClr val="A9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t">
            <a:noAutofit/>
          </a:bodyPr>
          <a:lstStyle/>
          <a:p>
            <a:pPr algn="l"/>
            <a:r>
              <a:rPr sz="1500" b="1">
                <a:solidFill>
                  <a:srgbClr val="024157"/>
                </a:solidFill>
                <a:latin typeface="Figtree"/>
              </a:rPr>
              <a:t>Agent Boundary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A30"/>
                </a:solidFill>
                <a:latin typeface="Figtree"/>
              </a:rPr>
              <a:t>Agents gather, check, and draft; people make every regulatory judgment and sign the recommendation</a:t>
            </a:r>
          </a:p>
        </p:txBody>
      </p:sp>
      <p:sp>
        <p:nvSpPr>
          <p:cNvPr id="47" name="Proposal Controls"/>
          <p:cNvSpPr/>
          <p:nvPr/>
        </p:nvSpPr>
        <p:spPr>
          <a:xfrm>
            <a:off x="8119872" y="4800600"/>
            <a:ext cx="3611880" cy="1371600"/>
          </a:xfrm>
          <a:prstGeom prst="roundRect">
            <a:avLst>
              <a:gd name="adj" fmla="val 3703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t">
            <a:noAutofit/>
          </a:bodyPr>
          <a:lstStyle/>
          <a:p>
            <a:pPr algn="l"/>
            <a:r>
              <a:rPr sz="1500" b="1">
                <a:solidFill>
                  <a:srgbClr val="024157"/>
                </a:solidFill>
                <a:latin typeface="Figtree"/>
              </a:rPr>
              <a:t>Controls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1F2A30"/>
                </a:solidFill>
                <a:latin typeface="Figtree"/>
              </a:rPr>
              <a:t>Each deal uses read-only data, citations, action logs, isolated workspaces, and human sign-off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>
                <a:solidFill>
                  <a:srgbClr val="024157"/>
                </a:solidFill>
                <a:latin typeface="Figtree"/>
              </a:rPr>
              <a:t>Experiment Risks and Success Criteria</a:t>
            </a:r>
          </a:p>
        </p:txBody>
      </p:sp>
      <p:grpSp>
        <p:nvGrpSpPr>
          <p:cNvPr id="4" name="Target (SlideHub 101599)"/>
          <p:cNvGrpSpPr/>
          <p:nvPr/>
        </p:nvGrpSpPr>
        <p:grpSpPr>
          <a:xfrm>
            <a:off x="139796" y="2103120"/>
            <a:ext cx="7584248" cy="3319272"/>
            <a:chOff x="437810" y="1059902"/>
            <a:chExt cx="11419226" cy="4997663"/>
          </a:xfrm>
        </p:grpSpPr>
        <p:grpSp>
          <p:nvGrpSpPr>
            <p:cNvPr id="77" name="Group 3">
              <a:extLst>
                <a:ext uri="{FF2B5EF4-FFF2-40B4-BE49-F238E27FC236}">
                  <a16:creationId xmlns:a16="http://schemas.microsoft.com/office/drawing/2014/main" id="{62B4EF41-F319-CB9D-0493-8C9DAF9A3E7B}"/>
                </a:ext>
              </a:extLst>
            </p:cNvPr>
            <p:cNvGrpSpPr/>
            <p:nvPr/>
          </p:nvGrpSpPr>
          <p:grpSpPr>
            <a:xfrm>
              <a:off x="437810" y="1059902"/>
              <a:ext cx="11419226" cy="4997663"/>
              <a:chOff x="437810" y="1059902"/>
              <a:chExt cx="11419226" cy="4997663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D25C971-15DB-4172-B6A4-7ECC45F24093}"/>
                  </a:ext>
                </a:extLst>
              </p:cNvPr>
              <p:cNvSpPr/>
              <p:nvPr/>
            </p:nvSpPr>
            <p:spPr>
              <a:xfrm>
                <a:off x="437810" y="1059902"/>
                <a:ext cx="4896298" cy="4896298"/>
              </a:xfrm>
              <a:prstGeom prst="ellipse">
                <a:avLst/>
              </a:prstGeom>
              <a:solidFill>
                <a:schemeClr val="accent1"/>
              </a:solidFill>
              <a:ln w="190500">
                <a:solidFill>
                  <a:schemeClr val="bg1"/>
                </a:solidFill>
              </a:ln>
              <a:effectLst>
                <a:outerShdw blurRad="508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28308849-E100-41A9-A3C9-E39E0F3C35FC}"/>
                  </a:ext>
                </a:extLst>
              </p:cNvPr>
              <p:cNvSpPr/>
              <p:nvPr/>
            </p:nvSpPr>
            <p:spPr>
              <a:xfrm>
                <a:off x="1353205" y="1975121"/>
                <a:ext cx="3065508" cy="3065861"/>
              </a:xfrm>
              <a:prstGeom prst="ellipse">
                <a:avLst/>
              </a:prstGeom>
              <a:solidFill>
                <a:schemeClr val="accent1"/>
              </a:solidFill>
              <a:ln w="190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9DF311-2D73-4AD4-905B-E4166E2FCE62}"/>
                  </a:ext>
                </a:extLst>
              </p:cNvPr>
              <p:cNvSpPr/>
              <p:nvPr/>
            </p:nvSpPr>
            <p:spPr>
              <a:xfrm>
                <a:off x="2229461" y="2857584"/>
                <a:ext cx="1319872" cy="1319872"/>
              </a:xfrm>
              <a:prstGeom prst="ellipse">
                <a:avLst/>
              </a:prstGeom>
              <a:solidFill>
                <a:schemeClr val="accent1"/>
              </a:solidFill>
              <a:ln w="190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20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F3C49A4-BE3B-0D33-5A33-307FBEF899BF}"/>
                  </a:ext>
                </a:extLst>
              </p:cNvPr>
              <p:cNvGrpSpPr/>
              <p:nvPr/>
            </p:nvGrpSpPr>
            <p:grpSpPr>
              <a:xfrm rot="21255088">
                <a:off x="2591547" y="1846911"/>
                <a:ext cx="3810411" cy="836376"/>
                <a:chOff x="2716157" y="2024094"/>
                <a:chExt cx="3810411" cy="836376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E84047F9-DB97-2A1F-3750-2B1FA1B95344}"/>
                    </a:ext>
                  </a:extLst>
                </p:cNvPr>
                <p:cNvSpPr/>
                <p:nvPr/>
              </p:nvSpPr>
              <p:spPr>
                <a:xfrm rot="4096284">
                  <a:off x="4579795" y="913697"/>
                  <a:ext cx="83135" cy="381041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2" name="Parallelogram 31">
                  <a:extLst>
                    <a:ext uri="{FF2B5EF4-FFF2-40B4-BE49-F238E27FC236}">
                      <a16:creationId xmlns:a16="http://schemas.microsoft.com/office/drawing/2014/main" id="{A351131B-CFFB-3F23-57FF-5304AFDCE089}"/>
                    </a:ext>
                  </a:extLst>
                </p:cNvPr>
                <p:cNvSpPr/>
                <p:nvPr/>
              </p:nvSpPr>
              <p:spPr>
                <a:xfrm rot="20296284" flipH="1">
                  <a:off x="5648860" y="2297995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3" name="Parallelogram 32">
                  <a:extLst>
                    <a:ext uri="{FF2B5EF4-FFF2-40B4-BE49-F238E27FC236}">
                      <a16:creationId xmlns:a16="http://schemas.microsoft.com/office/drawing/2014/main" id="{31C41C73-76D0-9BF5-80ED-42214506A48B}"/>
                    </a:ext>
                  </a:extLst>
                </p:cNvPr>
                <p:cNvSpPr/>
                <p:nvPr/>
              </p:nvSpPr>
              <p:spPr>
                <a:xfrm rot="9496284">
                  <a:off x="5544854" y="2024094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1C9730C-0100-C26D-072E-2281363E7367}"/>
                  </a:ext>
                </a:extLst>
              </p:cNvPr>
              <p:cNvGrpSpPr/>
              <p:nvPr/>
            </p:nvGrpSpPr>
            <p:grpSpPr>
              <a:xfrm rot="760325">
                <a:off x="2791021" y="3663240"/>
                <a:ext cx="3810412" cy="505384"/>
                <a:chOff x="2930242" y="3257649"/>
                <a:chExt cx="3810412" cy="505384"/>
              </a:xfrm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90F7AD7F-9753-615B-EA39-3FCDE725F0C3}"/>
                    </a:ext>
                  </a:extLst>
                </p:cNvPr>
                <p:cNvSpPr/>
                <p:nvPr/>
              </p:nvSpPr>
              <p:spPr>
                <a:xfrm rot="5400000">
                  <a:off x="4793880" y="1604865"/>
                  <a:ext cx="83135" cy="381041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59" name="Parallelogram 58">
                  <a:extLst>
                    <a:ext uri="{FF2B5EF4-FFF2-40B4-BE49-F238E27FC236}">
                      <a16:creationId xmlns:a16="http://schemas.microsoft.com/office/drawing/2014/main" id="{648E130F-AB3B-D8C6-5E07-9727C1EB460C}"/>
                    </a:ext>
                  </a:extLst>
                </p:cNvPr>
                <p:cNvSpPr/>
                <p:nvPr/>
              </p:nvSpPr>
              <p:spPr>
                <a:xfrm flipH="1">
                  <a:off x="5918695" y="3551638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0" name="Parallelogram 59">
                  <a:extLst>
                    <a:ext uri="{FF2B5EF4-FFF2-40B4-BE49-F238E27FC236}">
                      <a16:creationId xmlns:a16="http://schemas.microsoft.com/office/drawing/2014/main" id="{220EFAA7-9595-30B8-1326-3FB428BDB172}"/>
                    </a:ext>
                  </a:extLst>
                </p:cNvPr>
                <p:cNvSpPr/>
                <p:nvPr/>
              </p:nvSpPr>
              <p:spPr>
                <a:xfrm rot="10800000">
                  <a:off x="5918691" y="3257649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BDC38B00-DB7A-9929-77D2-137221F0F80D}"/>
                  </a:ext>
                </a:extLst>
              </p:cNvPr>
              <p:cNvGrpSpPr/>
              <p:nvPr/>
            </p:nvGrpSpPr>
            <p:grpSpPr>
              <a:xfrm>
                <a:off x="2891330" y="3257649"/>
                <a:ext cx="3810412" cy="505384"/>
                <a:chOff x="2930242" y="3257649"/>
                <a:chExt cx="3810412" cy="505384"/>
              </a:xfrm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C94715F6-067E-755C-DFBD-06FA37CBC048}"/>
                    </a:ext>
                  </a:extLst>
                </p:cNvPr>
                <p:cNvSpPr/>
                <p:nvPr/>
              </p:nvSpPr>
              <p:spPr>
                <a:xfrm rot="5400000">
                  <a:off x="4793880" y="1604865"/>
                  <a:ext cx="83135" cy="381041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6" name="Parallelogram 65">
                  <a:extLst>
                    <a:ext uri="{FF2B5EF4-FFF2-40B4-BE49-F238E27FC236}">
                      <a16:creationId xmlns:a16="http://schemas.microsoft.com/office/drawing/2014/main" id="{ABD5365F-5ECB-C1B1-8E23-110607F184CA}"/>
                    </a:ext>
                  </a:extLst>
                </p:cNvPr>
                <p:cNvSpPr/>
                <p:nvPr/>
              </p:nvSpPr>
              <p:spPr>
                <a:xfrm flipH="1">
                  <a:off x="5918695" y="3551638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7" name="Parallelogram 66">
                  <a:extLst>
                    <a:ext uri="{FF2B5EF4-FFF2-40B4-BE49-F238E27FC236}">
                      <a16:creationId xmlns:a16="http://schemas.microsoft.com/office/drawing/2014/main" id="{D0240667-A226-A08B-9ED5-5B23469F180F}"/>
                    </a:ext>
                  </a:extLst>
                </p:cNvPr>
                <p:cNvSpPr/>
                <p:nvPr/>
              </p:nvSpPr>
              <p:spPr>
                <a:xfrm rot="10800000">
                  <a:off x="5918691" y="3257649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9E0F041-890C-3A98-EBD3-9A6F703A28EB}"/>
                  </a:ext>
                </a:extLst>
              </p:cNvPr>
              <p:cNvGrpSpPr/>
              <p:nvPr/>
            </p:nvGrpSpPr>
            <p:grpSpPr>
              <a:xfrm rot="344913" flipV="1">
                <a:off x="2591547" y="4327872"/>
                <a:ext cx="3810411" cy="836376"/>
                <a:chOff x="2716157" y="2024094"/>
                <a:chExt cx="3810411" cy="836376"/>
              </a:xfrm>
            </p:grpSpPr>
            <p:sp>
              <p:nvSpPr>
                <p:cNvPr id="70" name="Rectangle: Rounded Corners 69">
                  <a:extLst>
                    <a:ext uri="{FF2B5EF4-FFF2-40B4-BE49-F238E27FC236}">
                      <a16:creationId xmlns:a16="http://schemas.microsoft.com/office/drawing/2014/main" id="{FC98745F-CE11-1C64-491D-E771FEFCCCAB}"/>
                    </a:ext>
                  </a:extLst>
                </p:cNvPr>
                <p:cNvSpPr/>
                <p:nvPr/>
              </p:nvSpPr>
              <p:spPr>
                <a:xfrm rot="4096284">
                  <a:off x="4579795" y="913697"/>
                  <a:ext cx="83135" cy="381041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1" name="Parallelogram 70">
                  <a:extLst>
                    <a:ext uri="{FF2B5EF4-FFF2-40B4-BE49-F238E27FC236}">
                      <a16:creationId xmlns:a16="http://schemas.microsoft.com/office/drawing/2014/main" id="{69217D6D-EEFF-B47E-A057-3F50DA177522}"/>
                    </a:ext>
                  </a:extLst>
                </p:cNvPr>
                <p:cNvSpPr/>
                <p:nvPr/>
              </p:nvSpPr>
              <p:spPr>
                <a:xfrm rot="20296284" flipH="1">
                  <a:off x="5648860" y="2297995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2" name="Parallelogram 71">
                  <a:extLst>
                    <a:ext uri="{FF2B5EF4-FFF2-40B4-BE49-F238E27FC236}">
                      <a16:creationId xmlns:a16="http://schemas.microsoft.com/office/drawing/2014/main" id="{E1E89EB3-1255-4A7E-2E90-218A2E325079}"/>
                    </a:ext>
                  </a:extLst>
                </p:cNvPr>
                <p:cNvSpPr/>
                <p:nvPr/>
              </p:nvSpPr>
              <p:spPr>
                <a:xfrm rot="9496284">
                  <a:off x="5544854" y="2024094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379DD06B-56D2-381E-4C04-4F7C1C54FBE3}"/>
                  </a:ext>
                </a:extLst>
              </p:cNvPr>
              <p:cNvGrpSpPr/>
              <p:nvPr/>
            </p:nvGrpSpPr>
            <p:grpSpPr>
              <a:xfrm rot="20839676" flipV="1">
                <a:off x="2906782" y="2819766"/>
                <a:ext cx="3810412" cy="505384"/>
                <a:chOff x="2930242" y="3257649"/>
                <a:chExt cx="3810412" cy="505384"/>
              </a:xfrm>
            </p:grpSpPr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A6CAFBAC-E4E7-E712-F042-9AB661D7E2B8}"/>
                    </a:ext>
                  </a:extLst>
                </p:cNvPr>
                <p:cNvSpPr/>
                <p:nvPr/>
              </p:nvSpPr>
              <p:spPr>
                <a:xfrm rot="5400000">
                  <a:off x="4793880" y="1604865"/>
                  <a:ext cx="83135" cy="381041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5" name="Parallelogram 74">
                  <a:extLst>
                    <a:ext uri="{FF2B5EF4-FFF2-40B4-BE49-F238E27FC236}">
                      <a16:creationId xmlns:a16="http://schemas.microsoft.com/office/drawing/2014/main" id="{906CCBD9-8A42-7682-8F9E-0EEA5AB75350}"/>
                    </a:ext>
                  </a:extLst>
                </p:cNvPr>
                <p:cNvSpPr/>
                <p:nvPr/>
              </p:nvSpPr>
              <p:spPr>
                <a:xfrm flipH="1">
                  <a:off x="5918695" y="3551638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6" name="Parallelogram 75">
                  <a:extLst>
                    <a:ext uri="{FF2B5EF4-FFF2-40B4-BE49-F238E27FC236}">
                      <a16:creationId xmlns:a16="http://schemas.microsoft.com/office/drawing/2014/main" id="{EDCC4A6E-EF88-1E14-7283-7FBE65CB612B}"/>
                    </a:ext>
                  </a:extLst>
                </p:cNvPr>
                <p:cNvSpPr/>
                <p:nvPr/>
              </p:nvSpPr>
              <p:spPr>
                <a:xfrm rot="10800000">
                  <a:off x="5918691" y="3257649"/>
                  <a:ext cx="821959" cy="211395"/>
                </a:xfrm>
                <a:prstGeom prst="parallelogram">
                  <a:avLst>
                    <a:gd name="adj" fmla="val 67341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>
                  <a:defPPr>
                    <a:defRPr lang="en-US"/>
                  </a:defPPr>
                  <a:lvl1pPr marL="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1pPr>
                  <a:lvl2pPr marL="457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2pPr>
                  <a:lvl3pPr marL="914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3pPr>
                  <a:lvl4pPr marL="1371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4pPr>
                  <a:lvl5pPr marL="18288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5pPr>
                  <a:lvl6pPr marL="22860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6pPr>
                  <a:lvl7pPr marL="27432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7pPr>
                  <a:lvl8pPr marL="32004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8pPr>
                  <a:lvl9pPr marL="3657600" marR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kern="1200" cap="none" spc="0" normalizeH="0" baseline="0" noProof="0">
                      <a:solidFill>
                        <a:schemeClr val="lt1"/>
                      </a:solidFill>
                      <a:uLnTx/>
                      <a:uFillTx/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200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  <p:sp>
        <p:nvSpPr>
          <p:cNvPr id="78" name="Risks"/>
          <p:cNvSpPr/>
          <p:nvPr/>
        </p:nvSpPr>
        <p:spPr>
          <a:xfrm>
            <a:off x="4846320" y="1188720"/>
            <a:ext cx="6885432" cy="1325880"/>
          </a:xfrm>
          <a:prstGeom prst="roundRect">
            <a:avLst>
              <a:gd name="adj" fmla="val 3831"/>
            </a:avLst>
          </a:prstGeom>
          <a:solidFill>
            <a:srgbClr val="FB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82880" bIns="73152" rtlCol="0" anchor="ctr">
            <a:noAutofit/>
          </a:bodyPr>
          <a:lstStyle/>
          <a:p>
            <a:pPr algn="l"/>
            <a:r>
              <a:rPr sz="1600" b="1" dirty="0">
                <a:solidFill>
                  <a:srgbClr val="CB773D"/>
                </a:solidFill>
                <a:latin typeface="Figtree"/>
              </a:rPr>
              <a:t>Risks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400" b="0" dirty="0">
                <a:solidFill>
                  <a:srgbClr val="1F2A30"/>
                </a:solidFill>
                <a:latin typeface="Figtree"/>
              </a:rPr>
              <a:t>Seller may prohibit AI access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despite data segregation</a:t>
            </a:r>
            <a:endParaRPr sz="14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b="0" dirty="0">
                <a:solidFill>
                  <a:srgbClr val="1F2A30"/>
                </a:solidFill>
                <a:latin typeface="Figtree"/>
              </a:rPr>
              <a:t>Human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s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pecialists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’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AI skills 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to define and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improve 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agents</a:t>
            </a:r>
            <a:endParaRPr lang="en-US" sz="1400" b="0" dirty="0">
              <a:solidFill>
                <a:srgbClr val="1F2A30"/>
              </a:solidFill>
              <a:latin typeface="Figtree"/>
            </a:endParaRPr>
          </a:p>
        </p:txBody>
      </p:sp>
      <p:sp>
        <p:nvSpPr>
          <p:cNvPr id="79" name="Success Criteria"/>
          <p:cNvSpPr/>
          <p:nvPr/>
        </p:nvSpPr>
        <p:spPr>
          <a:xfrm>
            <a:off x="4846320" y="2624328"/>
            <a:ext cx="6885432" cy="1920240"/>
          </a:xfrm>
          <a:prstGeom prst="roundRect">
            <a:avLst>
              <a:gd name="adj" fmla="val 2645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82880" bIns="73152" rtlCol="0" anchor="ctr">
            <a:noAutofit/>
          </a:bodyPr>
          <a:lstStyle/>
          <a:p>
            <a:pPr algn="l"/>
            <a:r>
              <a:rPr sz="1600" b="1" dirty="0">
                <a:solidFill>
                  <a:srgbClr val="024157"/>
                </a:solidFill>
                <a:latin typeface="Figtree"/>
              </a:rPr>
              <a:t>Success Criteria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dirty="0">
                <a:solidFill>
                  <a:srgbClr val="1F2A30"/>
                </a:solidFill>
                <a:latin typeface="Figtree"/>
              </a:rPr>
              <a:t>I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dentified risks that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are currently 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discovered post-acquisition</a:t>
            </a:r>
            <a:endParaRPr sz="14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dirty="0">
                <a:solidFill>
                  <a:srgbClr val="1F2A30"/>
                </a:solidFill>
                <a:latin typeface="Figtree"/>
              </a:rPr>
              <a:t>C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itation accuracy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b="0" dirty="0">
                <a:solidFill>
                  <a:srgbClr val="1F2A30"/>
                </a:solidFill>
                <a:latin typeface="Figtree"/>
              </a:rPr>
              <a:t>Reduced 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time 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of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 specialist effort</a:t>
            </a:r>
            <a:r>
              <a:rPr lang="en-US" sz="1400" b="0" dirty="0">
                <a:solidFill>
                  <a:srgbClr val="1F2A30"/>
                </a:solidFill>
                <a:latin typeface="Figtree"/>
              </a:rPr>
              <a:t>s</a:t>
            </a:r>
            <a:endParaRPr sz="1400" b="0" dirty="0">
              <a:solidFill>
                <a:srgbClr val="1F2A30"/>
              </a:solidFill>
              <a:latin typeface="Figtree"/>
            </a:endParaRP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b="0" dirty="0">
                <a:solidFill>
                  <a:srgbClr val="1F2A30"/>
                </a:solidFill>
                <a:latin typeface="Figtree"/>
              </a:rPr>
              <a:t>Increased l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ead and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team 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confidence</a:t>
            </a:r>
          </a:p>
        </p:txBody>
      </p:sp>
      <p:sp>
        <p:nvSpPr>
          <p:cNvPr id="80" name="Conditions"/>
          <p:cNvSpPr/>
          <p:nvPr/>
        </p:nvSpPr>
        <p:spPr>
          <a:xfrm>
            <a:off x="4846320" y="4654296"/>
            <a:ext cx="6885432" cy="1691640"/>
          </a:xfrm>
          <a:prstGeom prst="roundRect">
            <a:avLst>
              <a:gd name="adj" fmla="val 3003"/>
            </a:avLst>
          </a:prstGeom>
          <a:solidFill>
            <a:srgbClr val="E3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82880" bIns="73152" rtlCol="0" anchor="ctr">
            <a:noAutofit/>
          </a:bodyPr>
          <a:lstStyle/>
          <a:p>
            <a:pPr algn="l"/>
            <a:r>
              <a:rPr sz="1600" b="1" dirty="0">
                <a:solidFill>
                  <a:srgbClr val="238A91"/>
                </a:solidFill>
                <a:latin typeface="Figtree"/>
              </a:rPr>
              <a:t>Conditions Required for Success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400" b="0" dirty="0">
                <a:solidFill>
                  <a:srgbClr val="1F2A30"/>
                </a:solidFill>
                <a:latin typeface="Figtree"/>
              </a:rPr>
              <a:t>Executive sponsorship and a named regulatory lead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sz="1400" b="0" dirty="0">
                <a:solidFill>
                  <a:srgbClr val="1F2A30"/>
                </a:solidFill>
                <a:latin typeface="Figtree"/>
              </a:rPr>
              <a:t>Approved data boundary and segregated deal workspaces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dirty="0">
                <a:solidFill>
                  <a:srgbClr val="1F2A30"/>
                </a:solidFill>
                <a:latin typeface="Figtree"/>
              </a:rPr>
              <a:t>Upskilled specialists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 to define and validate agents</a:t>
            </a:r>
          </a:p>
          <a:p>
            <a:pPr marL="146304" indent="-146304">
              <a:spcBef>
                <a:spcPts val="200"/>
              </a:spcBef>
              <a:buSzPct val="80000"/>
              <a:buFont typeface="Wingdings" pitchFamily="2" charset="2"/>
              <a:buChar char="§"/>
            </a:pPr>
            <a:r>
              <a:rPr lang="en-US" sz="1400" b="0" dirty="0">
                <a:solidFill>
                  <a:srgbClr val="1F2A30"/>
                </a:solidFill>
                <a:latin typeface="Figtree"/>
              </a:rPr>
              <a:t>Availability of DD data room for </a:t>
            </a:r>
            <a:r>
              <a:rPr lang="en-US" sz="1400" dirty="0">
                <a:solidFill>
                  <a:srgbClr val="1F2A30"/>
                </a:solidFill>
                <a:latin typeface="Figtree"/>
              </a:rPr>
              <a:t>c</a:t>
            </a:r>
            <a:r>
              <a:rPr sz="1400" b="0" dirty="0">
                <a:solidFill>
                  <a:srgbClr val="1F2A30"/>
                </a:solidFill>
                <a:latin typeface="Figtree"/>
              </a:rPr>
              <a:t>losed cases with known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B2CBE-1B19-E6EB-C0A4-F65A89127174}"/>
              </a:ext>
            </a:extLst>
          </p:cNvPr>
          <p:cNvSpPr txBox="1"/>
          <p:nvPr/>
        </p:nvSpPr>
        <p:spPr>
          <a:xfrm>
            <a:off x="1114697" y="2016034"/>
            <a:ext cx="9052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30609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92608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200" b="1">
                <a:solidFill>
                  <a:srgbClr val="024157"/>
                </a:solidFill>
                <a:latin typeface="Figtree"/>
              </a:rPr>
              <a:t>Potential Use Cases</a:t>
            </a:r>
          </a:p>
        </p:txBody>
      </p:sp>
      <p:grpSp>
        <p:nvGrpSpPr>
          <p:cNvPr id="4" name="Use-case magnifier (SlideHub 101590)"/>
          <p:cNvGrpSpPr/>
          <p:nvPr/>
        </p:nvGrpSpPr>
        <p:grpSpPr>
          <a:xfrm>
            <a:off x="339462" y="1161288"/>
            <a:ext cx="11519172" cy="4901184"/>
            <a:chOff x="336868" y="1158875"/>
            <a:chExt cx="11520169" cy="4901608"/>
          </a:xfrm>
        </p:grpSpPr>
        <p:grpSp>
          <p:nvGrpSpPr>
            <p:cNvPr id="122" name="Group 1">
              <a:extLst>
                <a:ext uri="{FF2B5EF4-FFF2-40B4-BE49-F238E27FC236}">
                  <a16:creationId xmlns:a16="http://schemas.microsoft.com/office/drawing/2014/main" id="{F95747F9-3DD5-3722-6E73-72624557BD25}"/>
                </a:ext>
              </a:extLst>
            </p:cNvPr>
            <p:cNvGrpSpPr/>
            <p:nvPr/>
          </p:nvGrpSpPr>
          <p:grpSpPr>
            <a:xfrm>
              <a:off x="336868" y="1158875"/>
              <a:ext cx="11520169" cy="4901608"/>
              <a:chOff x="336868" y="1158875"/>
              <a:chExt cx="11520169" cy="490160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6057639-F223-4DEA-AFBF-278C6E59809A}"/>
                  </a:ext>
                </a:extLst>
              </p:cNvPr>
              <p:cNvSpPr/>
              <p:nvPr/>
            </p:nvSpPr>
            <p:spPr>
              <a:xfrm>
                <a:off x="336868" y="1158875"/>
                <a:ext cx="4011711" cy="2011854"/>
              </a:xfrm>
              <a:prstGeom prst="rect">
                <a:avLst/>
              </a:prstGeom>
              <a:solidFill>
                <a:srgbClr val="E6F2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64592" tIns="109728" rIns="502920" bIns="91440" rtlCol="0" anchor="t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500" b="1">
                    <a:solidFill>
                      <a:srgbClr val="024157"/>
                    </a:solidFill>
                    <a:latin typeface="Figtree"/>
                  </a:rPr>
                  <a:t>An early-stage asset needs an initial regulatory screen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0">
                    <a:solidFill>
                      <a:srgbClr val="1F2A30"/>
                    </a:solidFill>
                    <a:latin typeface="Figtree"/>
                  </a:rPr>
                  <a:t>Agents inventory evidence, find gaps, and draft a cited risk view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1">
                    <a:solidFill>
                      <a:srgbClr val="238A91"/>
                    </a:solidFill>
                    <a:latin typeface="Figtree"/>
                  </a:rPr>
                  <a:t>Humans validate the evidence and own every final regulatory decision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AB96839-E05C-4A0C-B811-838DBC2AAA82}"/>
                  </a:ext>
                </a:extLst>
              </p:cNvPr>
              <p:cNvSpPr/>
              <p:nvPr/>
            </p:nvSpPr>
            <p:spPr>
              <a:xfrm>
                <a:off x="336868" y="3655402"/>
                <a:ext cx="4011711" cy="2011854"/>
              </a:xfrm>
              <a:prstGeom prst="rect">
                <a:avLst/>
              </a:prstGeom>
              <a:solidFill>
                <a:srgbClr val="E3F1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64592" tIns="109728" rIns="502920" bIns="91440" rtlCol="0" anchor="t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500" b="1">
                    <a:solidFill>
                      <a:srgbClr val="024157"/>
                    </a:solidFill>
                    <a:latin typeface="Figtree"/>
                  </a:rPr>
                  <a:t>A novel modality requires complex CMC regulatory review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0">
                    <a:solidFill>
                      <a:srgbClr val="1F2A30"/>
                    </a:solidFill>
                    <a:latin typeface="Figtree"/>
                  </a:rPr>
                  <a:t>Agents map CMC evidence, commitments, gaps, and inspection exposure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1">
                    <a:solidFill>
                      <a:srgbClr val="238A91"/>
                    </a:solidFill>
                    <a:latin typeface="Figtree"/>
                  </a:rPr>
                  <a:t>CMC specialists judge readiness, while the regulatory lead owns the recommendation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987D363-4FF6-431A-9E94-0539AA6BE9AE}"/>
                  </a:ext>
                </a:extLst>
              </p:cNvPr>
              <p:cNvSpPr/>
              <p:nvPr/>
            </p:nvSpPr>
            <p:spPr>
              <a:xfrm flipH="1">
                <a:off x="7840138" y="1158875"/>
                <a:ext cx="4016899" cy="2011854"/>
              </a:xfrm>
              <a:prstGeom prst="rect">
                <a:avLst/>
              </a:prstGeom>
              <a:solidFill>
                <a:srgbClr val="E3F1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77240" tIns="109728" rIns="164592" bIns="91440" rtlCol="0" anchor="t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500" b="1">
                    <a:solidFill>
                      <a:srgbClr val="024157"/>
                    </a:solidFill>
                    <a:latin typeface="Figtree"/>
                  </a:rPr>
                  <a:t>A Phase III asset requires an rPTS assessment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0">
                    <a:solidFill>
                      <a:srgbClr val="1F2A30"/>
                    </a:solidFill>
                    <a:latin typeface="Figtree"/>
                  </a:rPr>
                  <a:t>Agents compile cited evidence and draft Phase III rPTS drivers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1">
                    <a:solidFill>
                      <a:srgbClr val="238A91"/>
                    </a:solidFill>
                    <a:latin typeface="Figtree"/>
                  </a:rPr>
                  <a:t>The regulatory lead sets rPTS and signs the regulatory recommendation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683C562-367D-4575-9278-25085F51785A}"/>
                  </a:ext>
                </a:extLst>
              </p:cNvPr>
              <p:cNvSpPr/>
              <p:nvPr/>
            </p:nvSpPr>
            <p:spPr>
              <a:xfrm flipH="1">
                <a:off x="7840138" y="3655402"/>
                <a:ext cx="4016899" cy="2011854"/>
              </a:xfrm>
              <a:prstGeom prst="rect">
                <a:avLst/>
              </a:prstGeom>
              <a:solidFill>
                <a:srgbClr val="E6F2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77240" tIns="109728" rIns="164592" bIns="91440" rtlCol="0" anchor="t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500" b="1">
                    <a:solidFill>
                      <a:srgbClr val="024157"/>
                    </a:solidFill>
                    <a:latin typeface="Figtree"/>
                  </a:rPr>
                  <a:t>An asset raises a device classification or labeling question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0">
                    <a:solidFill>
                      <a:srgbClr val="1F2A30"/>
                    </a:solidFill>
                    <a:latin typeface="Figtree"/>
                  </a:rPr>
                  <a:t>Agents map device evidence or labeling claims to cited support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300" b="1">
                    <a:solidFill>
                      <a:srgbClr val="238A91"/>
                    </a:solidFill>
                    <a:latin typeface="Figtree"/>
                  </a:rPr>
                  <a:t>Specialists judge classification or claim strength, and humans own every final decision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D00E73D-958D-476E-8D64-0BA1F69BCD31}"/>
                  </a:ext>
                </a:extLst>
              </p:cNvPr>
              <p:cNvCxnSpPr>
                <a:stCxn id="31" idx="5"/>
                <a:endCxn id="46" idx="1"/>
              </p:cNvCxnSpPr>
              <p:nvPr/>
            </p:nvCxnSpPr>
            <p:spPr>
              <a:xfrm>
                <a:off x="4594830" y="1751482"/>
                <a:ext cx="868252" cy="480042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8A9E65D-442D-41A6-8A58-0B3AF831BB2D}"/>
                  </a:ext>
                </a:extLst>
              </p:cNvPr>
              <p:cNvCxnSpPr>
                <a:stCxn id="32" idx="7"/>
                <a:endCxn id="46" idx="3"/>
              </p:cNvCxnSpPr>
              <p:nvPr/>
            </p:nvCxnSpPr>
            <p:spPr>
              <a:xfrm flipV="1">
                <a:off x="4594830" y="3526809"/>
                <a:ext cx="868252" cy="480042"/>
              </a:xfrm>
              <a:prstGeom prst="line">
                <a:avLst/>
              </a:prstGeom>
              <a:ln>
                <a:solidFill>
                  <a:schemeClr val="accent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8638222-6379-471E-B73B-A2608EF0B8B9}"/>
                  </a:ext>
                </a:extLst>
              </p:cNvPr>
              <p:cNvSpPr/>
              <p:nvPr/>
            </p:nvSpPr>
            <p:spPr>
              <a:xfrm>
                <a:off x="4002224" y="1158875"/>
                <a:ext cx="694282" cy="6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9AE90D9-EED5-45A4-8308-CCFEA4E016AC}"/>
                  </a:ext>
                </a:extLst>
              </p:cNvPr>
              <p:cNvSpPr/>
              <p:nvPr/>
            </p:nvSpPr>
            <p:spPr>
              <a:xfrm>
                <a:off x="4002224" y="3905176"/>
                <a:ext cx="694282" cy="6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17A9383-B20C-4F09-8DF3-62E1C7CBE22F}"/>
                  </a:ext>
                </a:extLst>
              </p:cNvPr>
              <p:cNvCxnSpPr>
                <a:stCxn id="37" idx="5"/>
              </p:cNvCxnSpPr>
              <p:nvPr/>
            </p:nvCxnSpPr>
            <p:spPr>
              <a:xfrm flipH="1">
                <a:off x="6767678" y="1751482"/>
                <a:ext cx="868252" cy="480042"/>
              </a:xfrm>
              <a:prstGeom prst="line">
                <a:avLst/>
              </a:prstGeom>
              <a:ln>
                <a:solidFill>
                  <a:schemeClr val="accent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4AE3ED1-559D-4E05-BC2A-E1C69877AF1F}"/>
                  </a:ext>
                </a:extLst>
              </p:cNvPr>
              <p:cNvCxnSpPr>
                <a:stCxn id="38" idx="7"/>
              </p:cNvCxnSpPr>
              <p:nvPr/>
            </p:nvCxnSpPr>
            <p:spPr>
              <a:xfrm flipH="1" flipV="1">
                <a:off x="6767679" y="3526810"/>
                <a:ext cx="868251" cy="480041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4E13BEC-7244-485A-B3CC-D72A46645801}"/>
                  </a:ext>
                </a:extLst>
              </p:cNvPr>
              <p:cNvSpPr/>
              <p:nvPr/>
            </p:nvSpPr>
            <p:spPr>
              <a:xfrm flipH="1">
                <a:off x="7534255" y="1158875"/>
                <a:ext cx="694282" cy="694282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615775B-D872-45CF-B665-CF9770F6AA91}"/>
                  </a:ext>
                </a:extLst>
              </p:cNvPr>
              <p:cNvSpPr/>
              <p:nvPr/>
            </p:nvSpPr>
            <p:spPr>
              <a:xfrm flipH="1">
                <a:off x="7534255" y="3905176"/>
                <a:ext cx="694282" cy="694282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6B56EF1-8F59-4F90-BDC9-B3F643CA18C4}"/>
                  </a:ext>
                </a:extLst>
              </p:cNvPr>
              <p:cNvSpPr/>
              <p:nvPr/>
            </p:nvSpPr>
            <p:spPr>
              <a:xfrm>
                <a:off x="6096126" y="1550661"/>
                <a:ext cx="1343106" cy="2651431"/>
              </a:xfrm>
              <a:custGeom>
                <a:avLst/>
                <a:gdLst>
                  <a:gd name="connsiteX0" fmla="*/ 17207 w 1582995"/>
                  <a:gd name="connsiteY0" fmla="*/ 0 h 3124998"/>
                  <a:gd name="connsiteX1" fmla="*/ 1582995 w 1582995"/>
                  <a:gd name="connsiteY1" fmla="*/ 1565788 h 3124998"/>
                  <a:gd name="connsiteX2" fmla="*/ 177300 w 1582995"/>
                  <a:gd name="connsiteY2" fmla="*/ 3123492 h 3124998"/>
                  <a:gd name="connsiteX3" fmla="*/ 147485 w 1582995"/>
                  <a:gd name="connsiteY3" fmla="*/ 3124998 h 3124998"/>
                  <a:gd name="connsiteX4" fmla="*/ 147485 w 1582995"/>
                  <a:gd name="connsiteY4" fmla="*/ 2871369 h 3124998"/>
                  <a:gd name="connsiteX5" fmla="*/ 151368 w 1582995"/>
                  <a:gd name="connsiteY5" fmla="*/ 2871173 h 3124998"/>
                  <a:gd name="connsiteX6" fmla="*/ 1329367 w 1582995"/>
                  <a:gd name="connsiteY6" fmla="*/ 1565788 h 3124998"/>
                  <a:gd name="connsiteX7" fmla="*/ 17207 w 1582995"/>
                  <a:gd name="connsiteY7" fmla="*/ 253628 h 3124998"/>
                  <a:gd name="connsiteX8" fmla="*/ 0 w 1582995"/>
                  <a:gd name="connsiteY8" fmla="*/ 254497 h 3124998"/>
                  <a:gd name="connsiteX9" fmla="*/ 0 w 1582995"/>
                  <a:gd name="connsiteY9" fmla="*/ 869 h 3124998"/>
                  <a:gd name="connsiteX10" fmla="*/ 17207 w 1582995"/>
                  <a:gd name="connsiteY10" fmla="*/ 0 h 3124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2995" h="3124998">
                    <a:moveTo>
                      <a:pt x="17207" y="0"/>
                    </a:moveTo>
                    <a:cubicBezTo>
                      <a:pt x="881968" y="0"/>
                      <a:pt x="1582995" y="701027"/>
                      <a:pt x="1582995" y="1565788"/>
                    </a:cubicBezTo>
                    <a:cubicBezTo>
                      <a:pt x="1582995" y="2376502"/>
                      <a:pt x="966858" y="3043308"/>
                      <a:pt x="177300" y="3123492"/>
                    </a:cubicBezTo>
                    <a:lnTo>
                      <a:pt x="147485" y="3124998"/>
                    </a:lnTo>
                    <a:lnTo>
                      <a:pt x="147485" y="2871369"/>
                    </a:lnTo>
                    <a:lnTo>
                      <a:pt x="151368" y="2871173"/>
                    </a:lnTo>
                    <a:cubicBezTo>
                      <a:pt x="813033" y="2803978"/>
                      <a:pt x="1329367" y="2245181"/>
                      <a:pt x="1329367" y="1565788"/>
                    </a:cubicBezTo>
                    <a:cubicBezTo>
                      <a:pt x="1329367" y="841102"/>
                      <a:pt x="741893" y="253628"/>
                      <a:pt x="17207" y="253628"/>
                    </a:cubicBezTo>
                    <a:lnTo>
                      <a:pt x="0" y="254497"/>
                    </a:lnTo>
                    <a:lnTo>
                      <a:pt x="0" y="869"/>
                    </a:lnTo>
                    <a:lnTo>
                      <a:pt x="17207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2D12EE9-60A8-4BD7-8EEB-776F8663E50B}"/>
                  </a:ext>
                </a:extLst>
              </p:cNvPr>
              <p:cNvSpPr/>
              <p:nvPr/>
            </p:nvSpPr>
            <p:spPr>
              <a:xfrm>
                <a:off x="4782219" y="1551398"/>
                <a:ext cx="1313907" cy="2648821"/>
              </a:xfrm>
              <a:custGeom>
                <a:avLst/>
                <a:gdLst>
                  <a:gd name="connsiteX0" fmla="*/ 1548581 w 1548581"/>
                  <a:gd name="connsiteY0" fmla="*/ 0 h 3121922"/>
                  <a:gd name="connsiteX1" fmla="*/ 1548581 w 1548581"/>
                  <a:gd name="connsiteY1" fmla="*/ 253628 h 3121922"/>
                  <a:gd name="connsiteX2" fmla="*/ 1431627 w 1548581"/>
                  <a:gd name="connsiteY2" fmla="*/ 259534 h 3121922"/>
                  <a:gd name="connsiteX3" fmla="*/ 253628 w 1548581"/>
                  <a:gd name="connsiteY3" fmla="*/ 1564919 h 3121922"/>
                  <a:gd name="connsiteX4" fmla="*/ 1301342 w 1548581"/>
                  <a:gd name="connsiteY4" fmla="*/ 2850421 h 3121922"/>
                  <a:gd name="connsiteX5" fmla="*/ 1401098 w 1548581"/>
                  <a:gd name="connsiteY5" fmla="*/ 2865645 h 3121922"/>
                  <a:gd name="connsiteX6" fmla="*/ 1401098 w 1548581"/>
                  <a:gd name="connsiteY6" fmla="*/ 3121922 h 3121922"/>
                  <a:gd name="connsiteX7" fmla="*/ 1250227 w 1548581"/>
                  <a:gd name="connsiteY7" fmla="*/ 3098896 h 3121922"/>
                  <a:gd name="connsiteX8" fmla="*/ 0 w 1548581"/>
                  <a:gd name="connsiteY8" fmla="*/ 1564919 h 3121922"/>
                  <a:gd name="connsiteX9" fmla="*/ 1405695 w 1548581"/>
                  <a:gd name="connsiteY9" fmla="*/ 7215 h 3121922"/>
                  <a:gd name="connsiteX10" fmla="*/ 1548581 w 1548581"/>
                  <a:gd name="connsiteY10" fmla="*/ 0 h 3121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48581" h="3121922">
                    <a:moveTo>
                      <a:pt x="1548581" y="0"/>
                    </a:moveTo>
                    <a:lnTo>
                      <a:pt x="1548581" y="253628"/>
                    </a:lnTo>
                    <a:lnTo>
                      <a:pt x="1431627" y="259534"/>
                    </a:lnTo>
                    <a:cubicBezTo>
                      <a:pt x="769963" y="326729"/>
                      <a:pt x="253628" y="885526"/>
                      <a:pt x="253628" y="1564919"/>
                    </a:cubicBezTo>
                    <a:cubicBezTo>
                      <a:pt x="253628" y="2199019"/>
                      <a:pt x="703413" y="2728067"/>
                      <a:pt x="1301342" y="2850421"/>
                    </a:cubicBezTo>
                    <a:lnTo>
                      <a:pt x="1401098" y="2865645"/>
                    </a:lnTo>
                    <a:lnTo>
                      <a:pt x="1401098" y="3121922"/>
                    </a:lnTo>
                    <a:lnTo>
                      <a:pt x="1250227" y="3098896"/>
                    </a:lnTo>
                    <a:cubicBezTo>
                      <a:pt x="536724" y="2952892"/>
                      <a:pt x="0" y="2321585"/>
                      <a:pt x="0" y="1564919"/>
                    </a:cubicBezTo>
                    <a:cubicBezTo>
                      <a:pt x="0" y="754206"/>
                      <a:pt x="616137" y="87399"/>
                      <a:pt x="1405695" y="7215"/>
                    </a:cubicBezTo>
                    <a:lnTo>
                      <a:pt x="15485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8DBE9B4-3321-44D5-BA21-F39E6950862C}"/>
                  </a:ext>
                </a:extLst>
              </p:cNvPr>
              <p:cNvSpPr/>
              <p:nvPr/>
            </p:nvSpPr>
            <p:spPr>
              <a:xfrm>
                <a:off x="4892484" y="1660925"/>
                <a:ext cx="2436484" cy="24364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AC37C25-CE3D-4652-8243-992884A42C0E}"/>
                  </a:ext>
                </a:extLst>
              </p:cNvPr>
              <p:cNvSpPr/>
              <p:nvPr/>
            </p:nvSpPr>
            <p:spPr>
              <a:xfrm>
                <a:off x="6096125" y="5722844"/>
                <a:ext cx="204385" cy="337639"/>
              </a:xfrm>
              <a:custGeom>
                <a:avLst/>
                <a:gdLst>
                  <a:gd name="connsiteX0" fmla="*/ 0 w 240890"/>
                  <a:gd name="connsiteY0" fmla="*/ 0 h 412953"/>
                  <a:gd name="connsiteX1" fmla="*/ 240890 w 240890"/>
                  <a:gd name="connsiteY1" fmla="*/ 0 h 412953"/>
                  <a:gd name="connsiteX2" fmla="*/ 240890 w 240890"/>
                  <a:gd name="connsiteY2" fmla="*/ 332655 h 412953"/>
                  <a:gd name="connsiteX3" fmla="*/ 160592 w 240890"/>
                  <a:gd name="connsiteY3" fmla="*/ 412953 h 412953"/>
                  <a:gd name="connsiteX4" fmla="*/ 0 w 240890"/>
                  <a:gd name="connsiteY4" fmla="*/ 412953 h 412953"/>
                  <a:gd name="connsiteX5" fmla="*/ 0 w 240890"/>
                  <a:gd name="connsiteY5" fmla="*/ 0 h 412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885" h="412953">
                    <a:moveTo>
                      <a:pt x="0" y="0"/>
                    </a:moveTo>
                    <a:lnTo>
                      <a:pt x="240890" y="0"/>
                    </a:lnTo>
                    <a:lnTo>
                      <a:pt x="240890" y="332655"/>
                    </a:lnTo>
                    <a:cubicBezTo>
                      <a:pt x="240890" y="377002"/>
                      <a:pt x="204939" y="412953"/>
                      <a:pt x="160592" y="412953"/>
                    </a:cubicBezTo>
                    <a:lnTo>
                      <a:pt x="0" y="4129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6D4E548-4D7A-44EC-A705-652E64EBC0C4}"/>
                  </a:ext>
                </a:extLst>
              </p:cNvPr>
              <p:cNvSpPr/>
              <p:nvPr/>
            </p:nvSpPr>
            <p:spPr>
              <a:xfrm>
                <a:off x="6096126" y="1765853"/>
                <a:ext cx="1127913" cy="3033779"/>
              </a:xfrm>
              <a:custGeom>
                <a:avLst/>
                <a:gdLst>
                  <a:gd name="connsiteX0" fmla="*/ 14506 w 1120673"/>
                  <a:gd name="connsiteY0" fmla="*/ 0 h 3014306"/>
                  <a:gd name="connsiteX1" fmla="*/ 1120673 w 1120673"/>
                  <a:gd name="connsiteY1" fmla="*/ 1106167 h 3014306"/>
                  <a:gd name="connsiteX2" fmla="*/ 127605 w 1120673"/>
                  <a:gd name="connsiteY2" fmla="*/ 2206623 h 3014306"/>
                  <a:gd name="connsiteX3" fmla="*/ 124332 w 1120673"/>
                  <a:gd name="connsiteY3" fmla="*/ 2206788 h 3014306"/>
                  <a:gd name="connsiteX4" fmla="*/ 124332 w 1120673"/>
                  <a:gd name="connsiteY4" fmla="*/ 2206788 h 3014306"/>
                  <a:gd name="connsiteX5" fmla="*/ 124332 w 1120673"/>
                  <a:gd name="connsiteY5" fmla="*/ 2420601 h 3014306"/>
                  <a:gd name="connsiteX6" fmla="*/ 124332 w 1120673"/>
                  <a:gd name="connsiteY6" fmla="*/ 3014306 h 3014306"/>
                  <a:gd name="connsiteX7" fmla="*/ 0 w 1120673"/>
                  <a:gd name="connsiteY7" fmla="*/ 3014306 h 3014306"/>
                  <a:gd name="connsiteX8" fmla="*/ 0 w 1120673"/>
                  <a:gd name="connsiteY8" fmla="*/ 2425413 h 3014306"/>
                  <a:gd name="connsiteX9" fmla="*/ 0 w 1120673"/>
                  <a:gd name="connsiteY9" fmla="*/ 2211602 h 3014306"/>
                  <a:gd name="connsiteX10" fmla="*/ 0 w 1120673"/>
                  <a:gd name="connsiteY10" fmla="*/ 2145061 h 3014306"/>
                  <a:gd name="connsiteX11" fmla="*/ 0 w 1120673"/>
                  <a:gd name="connsiteY11" fmla="*/ 733 h 3014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20673" h="3014306">
                    <a:moveTo>
                      <a:pt x="14506" y="0"/>
                    </a:moveTo>
                    <a:cubicBezTo>
                      <a:pt x="625425" y="0"/>
                      <a:pt x="1120673" y="495248"/>
                      <a:pt x="1120673" y="1106167"/>
                    </a:cubicBezTo>
                    <a:cubicBezTo>
                      <a:pt x="1120673" y="1678904"/>
                      <a:pt x="685397" y="2149977"/>
                      <a:pt x="127605" y="2206623"/>
                    </a:cubicBezTo>
                    <a:lnTo>
                      <a:pt x="124332" y="2206788"/>
                    </a:lnTo>
                    <a:lnTo>
                      <a:pt x="124332" y="2206788"/>
                    </a:lnTo>
                    <a:lnTo>
                      <a:pt x="124332" y="2420601"/>
                    </a:lnTo>
                    <a:lnTo>
                      <a:pt x="124332" y="3014306"/>
                    </a:lnTo>
                    <a:lnTo>
                      <a:pt x="0" y="3014306"/>
                    </a:lnTo>
                    <a:lnTo>
                      <a:pt x="0" y="2425413"/>
                    </a:lnTo>
                    <a:lnTo>
                      <a:pt x="0" y="2211602"/>
                    </a:lnTo>
                    <a:lnTo>
                      <a:pt x="0" y="2145061"/>
                    </a:lnTo>
                    <a:lnTo>
                      <a:pt x="0" y="733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50F9D22-0CC7-47BF-9787-FE6E2445CE66}"/>
                  </a:ext>
                </a:extLst>
              </p:cNvPr>
              <p:cNvSpPr/>
              <p:nvPr/>
            </p:nvSpPr>
            <p:spPr>
              <a:xfrm>
                <a:off x="4997412" y="1766592"/>
                <a:ext cx="1098714" cy="3033041"/>
              </a:xfrm>
              <a:custGeom>
                <a:avLst/>
                <a:gdLst>
                  <a:gd name="connsiteX0" fmla="*/ 967331 w 1091662"/>
                  <a:gd name="connsiteY0" fmla="*/ 2201963 h 3013573"/>
                  <a:gd name="connsiteX1" fmla="*/ 993068 w 1091662"/>
                  <a:gd name="connsiteY1" fmla="*/ 2205891 h 3013573"/>
                  <a:gd name="connsiteX2" fmla="*/ 1091661 w 1091662"/>
                  <a:gd name="connsiteY2" fmla="*/ 2210870 h 3013573"/>
                  <a:gd name="connsiteX3" fmla="*/ 1091661 w 1091662"/>
                  <a:gd name="connsiteY3" fmla="*/ 2424680 h 3013573"/>
                  <a:gd name="connsiteX4" fmla="*/ 1091661 w 1091662"/>
                  <a:gd name="connsiteY4" fmla="*/ 2424681 h 3013573"/>
                  <a:gd name="connsiteX5" fmla="*/ 1091661 w 1091662"/>
                  <a:gd name="connsiteY5" fmla="*/ 3013573 h 3013573"/>
                  <a:gd name="connsiteX6" fmla="*/ 967331 w 1091662"/>
                  <a:gd name="connsiteY6" fmla="*/ 3013573 h 3013573"/>
                  <a:gd name="connsiteX7" fmla="*/ 967331 w 1091662"/>
                  <a:gd name="connsiteY7" fmla="*/ 2418008 h 3013573"/>
                  <a:gd name="connsiteX8" fmla="*/ 967331 w 1091662"/>
                  <a:gd name="connsiteY8" fmla="*/ 2418007 h 3013573"/>
                  <a:gd name="connsiteX9" fmla="*/ 1091662 w 1091662"/>
                  <a:gd name="connsiteY9" fmla="*/ 0 h 3013573"/>
                  <a:gd name="connsiteX10" fmla="*/ 1091662 w 1091662"/>
                  <a:gd name="connsiteY10" fmla="*/ 2144329 h 3013573"/>
                  <a:gd name="connsiteX11" fmla="*/ 1091661 w 1091662"/>
                  <a:gd name="connsiteY11" fmla="*/ 2144329 h 3013573"/>
                  <a:gd name="connsiteX12" fmla="*/ 1091661 w 1091662"/>
                  <a:gd name="connsiteY12" fmla="*/ 2210869 h 3013573"/>
                  <a:gd name="connsiteX13" fmla="*/ 993068 w 1091662"/>
                  <a:gd name="connsiteY13" fmla="*/ 2205890 h 3013573"/>
                  <a:gd name="connsiteX14" fmla="*/ 967332 w 1091662"/>
                  <a:gd name="connsiteY14" fmla="*/ 2201962 h 3013573"/>
                  <a:gd name="connsiteX15" fmla="*/ 967332 w 1091662"/>
                  <a:gd name="connsiteY15" fmla="*/ 2201963 h 3013573"/>
                  <a:gd name="connsiteX16" fmla="*/ 883236 w 1091662"/>
                  <a:gd name="connsiteY16" fmla="*/ 2189129 h 3013573"/>
                  <a:gd name="connsiteX17" fmla="*/ 0 w 1091662"/>
                  <a:gd name="connsiteY17" fmla="*/ 1105435 h 3013573"/>
                  <a:gd name="connsiteX18" fmla="*/ 993068 w 1091662"/>
                  <a:gd name="connsiteY18" fmla="*/ 4979 h 3013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91662" h="3013573">
                    <a:moveTo>
                      <a:pt x="967331" y="2201963"/>
                    </a:moveTo>
                    <a:lnTo>
                      <a:pt x="993068" y="2205891"/>
                    </a:lnTo>
                    <a:lnTo>
                      <a:pt x="1091661" y="2210870"/>
                    </a:lnTo>
                    <a:lnTo>
                      <a:pt x="1091661" y="2424680"/>
                    </a:lnTo>
                    <a:lnTo>
                      <a:pt x="1091661" y="2424681"/>
                    </a:lnTo>
                    <a:lnTo>
                      <a:pt x="1091661" y="3013573"/>
                    </a:lnTo>
                    <a:lnTo>
                      <a:pt x="967331" y="3013573"/>
                    </a:lnTo>
                    <a:lnTo>
                      <a:pt x="967331" y="2418008"/>
                    </a:lnTo>
                    <a:lnTo>
                      <a:pt x="967331" y="2418007"/>
                    </a:lnTo>
                    <a:close/>
                    <a:moveTo>
                      <a:pt x="1091662" y="0"/>
                    </a:moveTo>
                    <a:lnTo>
                      <a:pt x="1091662" y="2144329"/>
                    </a:lnTo>
                    <a:lnTo>
                      <a:pt x="1091661" y="2144329"/>
                    </a:lnTo>
                    <a:lnTo>
                      <a:pt x="1091661" y="2210869"/>
                    </a:lnTo>
                    <a:lnTo>
                      <a:pt x="993068" y="2205890"/>
                    </a:lnTo>
                    <a:lnTo>
                      <a:pt x="967332" y="2201962"/>
                    </a:lnTo>
                    <a:lnTo>
                      <a:pt x="967332" y="2201963"/>
                    </a:lnTo>
                    <a:lnTo>
                      <a:pt x="883236" y="2189129"/>
                    </a:lnTo>
                    <a:cubicBezTo>
                      <a:pt x="379174" y="2085983"/>
                      <a:pt x="0" y="1639989"/>
                      <a:pt x="0" y="1105435"/>
                    </a:cubicBezTo>
                    <a:cubicBezTo>
                      <a:pt x="0" y="532698"/>
                      <a:pt x="435277" y="61625"/>
                      <a:pt x="993068" y="49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573E17D-2E9D-412F-822C-EBB538D14904}"/>
                  </a:ext>
                </a:extLst>
              </p:cNvPr>
              <p:cNvSpPr/>
              <p:nvPr/>
            </p:nvSpPr>
            <p:spPr>
              <a:xfrm>
                <a:off x="5891740" y="5722844"/>
                <a:ext cx="204385" cy="337639"/>
              </a:xfrm>
              <a:custGeom>
                <a:avLst/>
                <a:gdLst>
                  <a:gd name="connsiteX0" fmla="*/ 0 w 240890"/>
                  <a:gd name="connsiteY0" fmla="*/ 0 h 412953"/>
                  <a:gd name="connsiteX1" fmla="*/ 240890 w 240890"/>
                  <a:gd name="connsiteY1" fmla="*/ 0 h 412953"/>
                  <a:gd name="connsiteX2" fmla="*/ 240890 w 240890"/>
                  <a:gd name="connsiteY2" fmla="*/ 412953 h 412953"/>
                  <a:gd name="connsiteX3" fmla="*/ 80298 w 240890"/>
                  <a:gd name="connsiteY3" fmla="*/ 412953 h 412953"/>
                  <a:gd name="connsiteX4" fmla="*/ 0 w 240890"/>
                  <a:gd name="connsiteY4" fmla="*/ 332655 h 412953"/>
                  <a:gd name="connsiteX5" fmla="*/ 0 w 240890"/>
                  <a:gd name="connsiteY5" fmla="*/ 0 h 412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885" h="412953">
                    <a:moveTo>
                      <a:pt x="0" y="0"/>
                    </a:moveTo>
                    <a:lnTo>
                      <a:pt x="240890" y="0"/>
                    </a:lnTo>
                    <a:lnTo>
                      <a:pt x="240890" y="412953"/>
                    </a:lnTo>
                    <a:lnTo>
                      <a:pt x="80298" y="412953"/>
                    </a:lnTo>
                    <a:cubicBezTo>
                      <a:pt x="35951" y="412953"/>
                      <a:pt x="0" y="377002"/>
                      <a:pt x="0" y="33265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6DD76FA-B1FF-4F45-82A9-37386AA09EDF}"/>
                  </a:ext>
                </a:extLst>
              </p:cNvPr>
              <p:cNvSpPr/>
              <p:nvPr/>
            </p:nvSpPr>
            <p:spPr>
              <a:xfrm>
                <a:off x="5194821" y="1963262"/>
                <a:ext cx="1831810" cy="183180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6A19066-0A0B-4C36-AF68-CB77D3105E3A}"/>
                  </a:ext>
                </a:extLst>
              </p:cNvPr>
              <p:cNvSpPr/>
              <p:nvPr/>
            </p:nvSpPr>
            <p:spPr>
              <a:xfrm>
                <a:off x="5891740" y="4799633"/>
                <a:ext cx="204386" cy="923210"/>
              </a:xfrm>
              <a:custGeom>
                <a:avLst/>
                <a:gdLst>
                  <a:gd name="connsiteX0" fmla="*/ 0 w 240891"/>
                  <a:gd name="connsiteY0" fmla="*/ 0 h 1013992"/>
                  <a:gd name="connsiteX1" fmla="*/ 93407 w 240891"/>
                  <a:gd name="connsiteY1" fmla="*/ 0 h 1013992"/>
                  <a:gd name="connsiteX2" fmla="*/ 93407 w 240891"/>
                  <a:gd name="connsiteY2" fmla="*/ 473218 h 1013992"/>
                  <a:gd name="connsiteX3" fmla="*/ 93408 w 240891"/>
                  <a:gd name="connsiteY3" fmla="*/ 473218 h 1013992"/>
                  <a:gd name="connsiteX4" fmla="*/ 93408 w 240891"/>
                  <a:gd name="connsiteY4" fmla="*/ 0 h 1013992"/>
                  <a:gd name="connsiteX5" fmla="*/ 240891 w 240891"/>
                  <a:gd name="connsiteY5" fmla="*/ 0 h 1013992"/>
                  <a:gd name="connsiteX6" fmla="*/ 240891 w 240891"/>
                  <a:gd name="connsiteY6" fmla="*/ 473218 h 1013992"/>
                  <a:gd name="connsiteX7" fmla="*/ 240890 w 240891"/>
                  <a:gd name="connsiteY7" fmla="*/ 473218 h 1013992"/>
                  <a:gd name="connsiteX8" fmla="*/ 240890 w 240891"/>
                  <a:gd name="connsiteY8" fmla="*/ 1013992 h 1013992"/>
                  <a:gd name="connsiteX9" fmla="*/ 0 w 240891"/>
                  <a:gd name="connsiteY9" fmla="*/ 1013992 h 101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891" h="1013992">
                    <a:moveTo>
                      <a:pt x="0" y="0"/>
                    </a:moveTo>
                    <a:lnTo>
                      <a:pt x="93407" y="0"/>
                    </a:lnTo>
                    <a:lnTo>
                      <a:pt x="93407" y="473218"/>
                    </a:lnTo>
                    <a:lnTo>
                      <a:pt x="93408" y="473218"/>
                    </a:lnTo>
                    <a:lnTo>
                      <a:pt x="93408" y="0"/>
                    </a:lnTo>
                    <a:lnTo>
                      <a:pt x="240891" y="0"/>
                    </a:lnTo>
                    <a:lnTo>
                      <a:pt x="240891" y="473218"/>
                    </a:lnTo>
                    <a:lnTo>
                      <a:pt x="240890" y="473218"/>
                    </a:lnTo>
                    <a:lnTo>
                      <a:pt x="240890" y="1013992"/>
                    </a:lnTo>
                    <a:lnTo>
                      <a:pt x="0" y="10139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074CDFD-C30E-4C79-9552-4955DE1429FB}"/>
                  </a:ext>
                </a:extLst>
              </p:cNvPr>
              <p:cNvSpPr/>
              <p:nvPr/>
            </p:nvSpPr>
            <p:spPr>
              <a:xfrm>
                <a:off x="6096125" y="4799633"/>
                <a:ext cx="204385" cy="923210"/>
              </a:xfrm>
              <a:custGeom>
                <a:avLst/>
                <a:gdLst>
                  <a:gd name="connsiteX0" fmla="*/ 1 w 240890"/>
                  <a:gd name="connsiteY0" fmla="*/ 0 h 1013992"/>
                  <a:gd name="connsiteX1" fmla="*/ 147485 w 240890"/>
                  <a:gd name="connsiteY1" fmla="*/ 0 h 1013992"/>
                  <a:gd name="connsiteX2" fmla="*/ 147486 w 240890"/>
                  <a:gd name="connsiteY2" fmla="*/ 0 h 1013992"/>
                  <a:gd name="connsiteX3" fmla="*/ 240890 w 240890"/>
                  <a:gd name="connsiteY3" fmla="*/ 0 h 1013992"/>
                  <a:gd name="connsiteX4" fmla="*/ 240890 w 240890"/>
                  <a:gd name="connsiteY4" fmla="*/ 1013992 h 1013992"/>
                  <a:gd name="connsiteX5" fmla="*/ 0 w 240890"/>
                  <a:gd name="connsiteY5" fmla="*/ 1013992 h 1013992"/>
                  <a:gd name="connsiteX6" fmla="*/ 0 w 240890"/>
                  <a:gd name="connsiteY6" fmla="*/ 473218 h 1013992"/>
                  <a:gd name="connsiteX7" fmla="*/ 1 w 240890"/>
                  <a:gd name="connsiteY7" fmla="*/ 473218 h 101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0885" h="1013992">
                    <a:moveTo>
                      <a:pt x="1" y="0"/>
                    </a:moveTo>
                    <a:lnTo>
                      <a:pt x="147485" y="0"/>
                    </a:lnTo>
                    <a:lnTo>
                      <a:pt x="147486" y="0"/>
                    </a:lnTo>
                    <a:lnTo>
                      <a:pt x="240890" y="0"/>
                    </a:lnTo>
                    <a:lnTo>
                      <a:pt x="240890" y="1013992"/>
                    </a:lnTo>
                    <a:lnTo>
                      <a:pt x="0" y="1013992"/>
                    </a:lnTo>
                    <a:lnTo>
                      <a:pt x="0" y="473218"/>
                    </a:lnTo>
                    <a:lnTo>
                      <a:pt x="1" y="47321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9A57722-E746-4307-880A-D76117EB64B2}"/>
                  </a:ext>
                </a:extLst>
              </p:cNvPr>
              <p:cNvSpPr/>
              <p:nvPr/>
            </p:nvSpPr>
            <p:spPr>
              <a:xfrm>
                <a:off x="6004360" y="4934187"/>
                <a:ext cx="183531" cy="1835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2pPr>
                <a:lvl3pPr marL="914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3pPr>
                <a:lvl4pPr marL="1371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4pPr>
                <a:lvl5pPr marL="18288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5pPr>
                <a:lvl6pPr marL="22860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6pPr>
                <a:lvl7pPr marL="27432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7pPr>
                <a:lvl8pPr marL="32004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8pPr>
                <a:lvl9pPr marL="365760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800" b="0" i="0" u="none" strike="noStrike" kern="1200" cap="none" spc="0" normalizeH="0" baseline="0" noProof="0">
                    <a:solidFill>
                      <a:schemeClr val="lt1"/>
                    </a:solidFill>
                    <a:uLnTx/>
                    <a:uFillTx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A7C4F747-4674-4A7D-A238-054855855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720485" y="2485045"/>
                <a:ext cx="788242" cy="788240"/>
              </a:xfrm>
              <a:prstGeom prst="rect">
                <a:avLst/>
              </a:prstGeom>
            </p:spPr>
          </p:pic>
          <p:pic>
            <p:nvPicPr>
              <p:cNvPr id="116" name="Graphic 115">
                <a:extLst>
                  <a:ext uri="{FF2B5EF4-FFF2-40B4-BE49-F238E27FC236}">
                    <a16:creationId xmlns:a16="http://schemas.microsoft.com/office/drawing/2014/main" id="{91F553B4-C509-41BD-BAAE-EFB9C83C7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03797" y="1321778"/>
                <a:ext cx="368478" cy="368477"/>
              </a:xfrm>
              <a:prstGeom prst="rect">
                <a:avLst/>
              </a:prstGeom>
            </p:spPr>
          </p:pic>
          <p:pic>
            <p:nvPicPr>
              <p:cNvPr id="118" name="Graphic 117">
                <a:extLst>
                  <a:ext uri="{FF2B5EF4-FFF2-40B4-BE49-F238E27FC236}">
                    <a16:creationId xmlns:a16="http://schemas.microsoft.com/office/drawing/2014/main" id="{D7656BA7-0F78-4347-849E-38C5FD331E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06378" y="4062868"/>
                <a:ext cx="368478" cy="368477"/>
              </a:xfrm>
              <a:prstGeom prst="rect">
                <a:avLst/>
              </a:prstGeom>
            </p:spPr>
          </p:pic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48CC87D0-A1BF-4D27-9999-859D39A27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162622" y="4049656"/>
                <a:ext cx="368478" cy="368477"/>
              </a:xfrm>
              <a:prstGeom prst="rect">
                <a:avLst/>
              </a:prstGeom>
            </p:spPr>
          </p:pic>
          <p:pic>
            <p:nvPicPr>
              <p:cNvPr id="121" name="Graphic 120">
                <a:extLst>
                  <a:ext uri="{FF2B5EF4-FFF2-40B4-BE49-F238E27FC236}">
                    <a16:creationId xmlns:a16="http://schemas.microsoft.com/office/drawing/2014/main" id="{89080DC5-85A9-447B-BD89-8AB365338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162435" y="1281600"/>
                <a:ext cx="368478" cy="36847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A30"/>
      </a:dk1>
      <a:lt1>
        <a:sysClr val="window" lastClr="FFFFFF"/>
      </a:lt1>
      <a:dk2>
        <a:srgbClr val="024157"/>
      </a:dk2>
      <a:lt2>
        <a:srgbClr val="EEECE1"/>
      </a:lt2>
      <a:accent1>
        <a:srgbClr val="238A91"/>
      </a:accent1>
      <a:accent2>
        <a:srgbClr val="02415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475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Figtree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Regulatory Due-Diligence Team</dc:title>
  <dc:subject/>
  <dc:creator>Hybrid DD team</dc:creator>
  <cp:keywords/>
  <dc:description/>
  <cp:lastModifiedBy>Hybrid DD team</cp:lastModifiedBy>
  <cp:revision>4</cp:revision>
  <dcterms:created xsi:type="dcterms:W3CDTF">2013-01-27T09:14:16Z</dcterms:created>
  <dcterms:modified xsi:type="dcterms:W3CDTF">2026-10-08T15:38:48Z</dcterms:modified>
  <cp:category/>
</cp:coreProperties>
</file>